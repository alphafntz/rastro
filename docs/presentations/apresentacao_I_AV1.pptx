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 dos vizinhos (m)</c:v>
                </c:pt>
              </c:strCache>
            </c:strRef>
          </c:tx>
          <c:dPt>
            <c:idx val="0"/>
            <c:spPr>
              <a:solidFill>
                <a:srgbClr val="E03E3E"/>
              </a:solidFill>
            </c:spPr>
          </c:dPt>
          <c:dPt>
            <c:idx val="1"/>
            <c:spPr>
              <a:solidFill>
                <a:srgbClr val="0D9F6E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600" b="1">
                        <a:solidFill>
                          <a:srgbClr val="E03E3E"/>
                        </a:solidFill>
                        <a:latin typeface="Plus Jakarta Sans"/>
                      </a:rPr>
                      <a:t>2,94 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600" b="1">
                        <a:solidFill>
                          <a:srgbClr val="0D9F6E"/>
                        </a:solidFill>
                        <a:latin typeface="Plus Jakarta Sans"/>
                      </a:rPr>
                      <a:t>0,07 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Sem detector</c:v>
                </c:pt>
                <c:pt idx="1">
                  <c:v>Com detector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2.937082061273161</c:v>
                </c:pt>
                <c:pt idx="1">
                  <c:v>0.0651360583000782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0D0F14"/>
                </a:solidFill>
                <a:latin typeface="Plus Jakarta 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.9650607827187674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Plus Jakarta San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Detecção do salto</c:v>
                </c:pt>
              </c:strCache>
            </c:strRef>
          </c:tx>
          <c:spPr>
            <a:ln w="34925">
              <a:solidFill>
                <a:srgbClr val="5E4AE3"/>
              </a:solidFill>
            </a:ln>
          </c:spPr>
          <c:marker>
            <c:symbol val="circle"/>
            <c:size val="7"/>
            <c:spPr>
              <a:solidFill>
                <a:srgbClr val="5E4AE3"/>
              </a:solidFill>
              <a:ln>
                <a:solidFill>
                  <a:srgbClr val="5E4AE3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400" b="1">
                        <a:solidFill>
                          <a:srgbClr val="5E4AE3"/>
                        </a:solidFill>
                        <a:latin typeface="Plus Jakarta Sans"/>
                      </a:rPr>
                      <a:t>6%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400" b="1">
                        <a:solidFill>
                          <a:srgbClr val="5E4AE3"/>
                        </a:solidFill>
                        <a:latin typeface="Plus Jakarta Sans"/>
                      </a:rPr>
                      <a:t>92%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2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30</c:v>
                </c:pt>
                <c:pt idx="6">
                  <c:v>50</c:v>
                </c:pt>
                <c:pt idx="7">
                  <c:v>100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</c:v>
                </c:pt>
                <c:pt idx="1">
                  <c:v>92</c:v>
                </c:pt>
                <c:pt idx="2">
                  <c:v>98</c:v>
                </c:pt>
                <c:pt idx="3">
                  <c:v>98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Falso alarme</c:v>
                </c:pt>
              </c:strCache>
            </c:strRef>
          </c:tx>
          <c:spPr>
            <a:ln w="22225">
              <a:solidFill>
                <a:srgbClr val="E03E3E"/>
              </a:solidFill>
            </a:ln>
          </c:spPr>
          <c:marker>
            <c:symbol val="circle"/>
            <c:size val="7"/>
            <c:spPr>
              <a:solidFill>
                <a:srgbClr val="E03E3E"/>
              </a:solidFill>
              <a:ln>
                <a:solidFill>
                  <a:srgbClr val="E03E3E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2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30</c:v>
                </c:pt>
                <c:pt idx="6">
                  <c:v>50</c:v>
                </c:pt>
                <c:pt idx="7">
                  <c:v>100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</c:v>
                </c:pt>
                <c:pt idx="1">
                  <c:v>4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90%</c:v>
                </c:pt>
              </c:strCache>
            </c:strRef>
          </c:tx>
          <c:spPr>
            <a:ln w="19050">
              <a:solidFill>
                <a:srgbClr val="A9ADBD"/>
              </a:solidFill>
              <a:prstDash val="dash"/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2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30</c:v>
                </c:pt>
                <c:pt idx="6">
                  <c:v>50</c:v>
                </c:pt>
                <c:pt idx="7">
                  <c:v>100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90</c:v>
                </c:pt>
                <c:pt idx="1">
                  <c:v>90</c:v>
                </c:pt>
                <c:pt idx="2">
                  <c:v>90</c:v>
                </c:pt>
                <c:pt idx="3">
                  <c:v>90</c:v>
                </c:pt>
                <c:pt idx="4">
                  <c:v>90</c:v>
                </c:pt>
                <c:pt idx="5">
                  <c:v>90</c:v>
                </c:pt>
                <c:pt idx="6">
                  <c:v>90</c:v>
                </c:pt>
                <c:pt idx="7">
                  <c:v>90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5F6375"/>
                    </a:solidFill>
                    <a:latin typeface="Plus Jakarta Sans"/>
                  </a:rPr>
                  <a:t>salto injetado (m)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D5D8E2"/>
            </a:solidFill>
          </a:ln>
        </c:spPr>
        <c:txPr>
          <a:bodyPr/>
          <a:lstStyle/>
          <a:p>
            <a:pPr>
              <a:defRPr sz="1200">
                <a:solidFill>
                  <a:srgbClr val="5F6375"/>
                </a:solidFill>
                <a:latin typeface="Plus Jakarta San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E6E8EF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F6375"/>
                </a:solidFill>
                <a:latin typeface="Plus Jakarta Sans"/>
              </a:defRPr>
            </a:pPr>
          </a:p>
        </c:txPr>
        <c:crossAx val="2118791784"/>
        <c:crosses val="autoZero"/>
        <c:majorUnit val="25.0"/>
      </c:valAx>
    </c:plotArea>
    <c:legend>
      <c:legendPos val="b"/>
      <c:layout/>
      <c:overlay val="0"/>
      <c:txPr>
        <a:bodyPr/>
        <a:lstStyle/>
        <a:p>
          <a:pPr>
            <a:defRPr sz="1200">
              <a:solidFill>
                <a:srgbClr val="5F6375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Plus Jakarta Sans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astro-simbolo-branco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540000"/>
            <a:ext cx="792000" cy="7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6000" y="1764000"/>
            <a:ext cx="10800000" cy="86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Plus Jakarta Sans"/>
              </a:rPr>
              <a:t>Rastro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2646000"/>
            <a:ext cx="10800000" cy="50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>
                <a:solidFill>
                  <a:srgbClr val="C9C1FF"/>
                </a:solidFill>
                <a:latin typeface="Plus Jakarta Sans"/>
              </a:rPr>
              <a:t>sente, corrige e detecta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3240000"/>
            <a:ext cx="1080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A9ADBD"/>
                </a:solidFill>
                <a:latin typeface="Plus Jakarta Sans"/>
              </a:rPr>
              <a:t>Apresentação I · AV1 · GAT108 Automação Avançada · UFLA · 27/10/2026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3780000"/>
            <a:ext cx="1080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Plus Jakarta Sans"/>
              </a:rPr>
              <a:t>Juliano Cesar Ferreira Ramos  ·  Andre Bueno Ocanha  ·  João Paulo Silva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00" y="5004000"/>
            <a:ext cx="3546000" cy="720000"/>
          </a:xfrm>
          <a:prstGeom prst="roundRect">
            <a:avLst>
              <a:gd name="adj" fmla="val 20000"/>
            </a:avLst>
          </a:prstGeom>
          <a:solidFill>
            <a:srgbClr val="5E4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000" y="5004000"/>
            <a:ext cx="3131999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Plus Jakarta Sans"/>
              </a:rPr>
              <a:t>Fundamentação · 8 min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4E6EE"/>
                </a:solidFill>
                <a:latin typeface="Plus Jakarta Sans"/>
              </a:rPr>
              <a:t>João Paulo e Juliano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2000" y="5004000"/>
            <a:ext cx="3546000" cy="720000"/>
          </a:xfrm>
          <a:prstGeom prst="roundRect">
            <a:avLst>
              <a:gd name="adj" fmla="val 20000"/>
            </a:avLst>
          </a:prstGeom>
          <a:solidFill>
            <a:srgbClr val="0D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8000" y="5004000"/>
            <a:ext cx="3131999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Plus Jakarta Sans"/>
              </a:rPr>
              <a:t>MVP ao vivo · 9 min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4E6EE"/>
                </a:solidFill>
                <a:latin typeface="Plus Jakarta Sans"/>
              </a:rPr>
              <a:t>Juliano, Andre e João Paulo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000" y="5004000"/>
            <a:ext cx="3546000" cy="720000"/>
          </a:xfrm>
          <a:prstGeom prst="roundRect">
            <a:avLst>
              <a:gd name="adj" fmla="val 20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4000" y="5004000"/>
            <a:ext cx="3131999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Plus Jakarta Sans"/>
              </a:rPr>
              <a:t>Resultados · 5 min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4E6EE"/>
                </a:solidFill>
                <a:latin typeface="Plus Jakarta Sans"/>
              </a:rPr>
              <a:t>Andre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00" y="5940000"/>
            <a:ext cx="1080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9ADBD"/>
                </a:solidFill>
                <a:latin typeface="Plus Jakarta Sans"/>
              </a:rPr>
              <a:t>22 min de exposição e 8 min de arguição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6000" y="342000"/>
            <a:ext cx="1441800" cy="259200"/>
          </a:xfrm>
          <a:prstGeom prst="roundRect">
            <a:avLst>
              <a:gd name="adj" fmla="val 50000"/>
            </a:avLst>
          </a:prstGeom>
          <a:solidFill>
            <a:srgbClr val="5E4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00" y="342000"/>
            <a:ext cx="1441800" cy="25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Plus Jakarta Sans"/>
              </a:rPr>
              <a:t>FUNDAMENTAÇÃO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684000"/>
            <a:ext cx="110160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D0F14"/>
                </a:solidFill>
                <a:latin typeface="Plus Jakarta Sans"/>
              </a:rPr>
              <a:t>O que a camada 1 mede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6462000"/>
            <a:ext cx="86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F6375"/>
                </a:solidFill>
                <a:latin typeface="Plus Jakarta Sans"/>
              </a:rPr>
              <a:t>Rastro · Apresentação I · Fundamentação · João Paulo Silva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2000" y="6462000"/>
            <a:ext cx="1465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F6375"/>
                </a:solidFill>
                <a:latin typeface="Plus Jakarta Sans"/>
              </a:rPr>
              <a:t>2/11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1404000"/>
            <a:ext cx="11016000" cy="50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0D0F14"/>
                </a:solidFill>
                <a:latin typeface="Plus Jakarta Sans"/>
              </a:rPr>
              <a:t>Rede mesh entre Androids em áreas sem cobertura. Na AV1, o nó precisa </a:t>
            </a:r>
            <a:r>
              <a:rPr sz="1800" b="1">
                <a:solidFill>
                  <a:srgbClr val="5E4AE3"/>
                </a:solidFill>
                <a:latin typeface="Plus Jakarta Sans"/>
              </a:rPr>
              <a:t>sentir, corrigir e detectar</a:t>
            </a:r>
            <a:r>
              <a:rPr sz="1800" b="0">
                <a:solidFill>
                  <a:srgbClr val="0D0F14"/>
                </a:solidFill>
                <a:latin typeface="Plus Jakarta Sans"/>
              </a:rPr>
              <a:t> sem enviar nada para fora.</a:t>
            </a:r>
          </a:p>
        </p:txBody>
      </p:sp>
      <p:sp>
        <p:nvSpPr>
          <p:cNvPr id="8" name="Oval 7"/>
          <p:cNvSpPr/>
          <p:nvPr/>
        </p:nvSpPr>
        <p:spPr>
          <a:xfrm>
            <a:off x="576000" y="2160000"/>
            <a:ext cx="468000" cy="468000"/>
          </a:xfrm>
          <a:prstGeom prst="ellipse">
            <a:avLst/>
          </a:prstGeom>
          <a:solidFill>
            <a:srgbClr val="5E4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atel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20" y="2272320"/>
            <a:ext cx="243360" cy="243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06000" y="2142000"/>
            <a:ext cx="5310000" cy="79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D0F14"/>
                </a:solidFill>
                <a:latin typeface="Plus Jakarta Sans"/>
              </a:rPr>
              <a:t>Fixo GNSS a cada 1 s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5F6375"/>
                </a:solidFill>
                <a:latin typeface="Plus Jakarta Sans"/>
              </a:rPr>
              <a:t>posição, velocidade (Doppler) e rumo, cada um com a acurácia de 68% que o receptor informa</a:t>
            </a:r>
          </a:p>
        </p:txBody>
      </p:sp>
      <p:sp>
        <p:nvSpPr>
          <p:cNvPr id="11" name="Oval 10"/>
          <p:cNvSpPr/>
          <p:nvPr/>
        </p:nvSpPr>
        <p:spPr>
          <a:xfrm>
            <a:off x="576000" y="3401999"/>
            <a:ext cx="468000" cy="468000"/>
          </a:xfrm>
          <a:prstGeom prst="ellipse">
            <a:avLst/>
          </a:prstGeom>
          <a:solidFill>
            <a:srgbClr val="5E4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tivida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20" y="3514319"/>
            <a:ext cx="243360" cy="243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06000" y="3383999"/>
            <a:ext cx="5310000" cy="79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D0F14"/>
                </a:solidFill>
                <a:latin typeface="Plus Jakarta Sans"/>
              </a:rPr>
              <a:t>Acelerômetro a 50 Hz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5F6375"/>
                </a:solidFill>
                <a:latin typeface="Plus Jakarta Sans"/>
              </a:rPr>
              <a:t>aquisição contínua no serviço em primeiro plano, também com a tela bloqueada</a:t>
            </a:r>
          </a:p>
        </p:txBody>
      </p:sp>
      <p:sp>
        <p:nvSpPr>
          <p:cNvPr id="14" name="Oval 13"/>
          <p:cNvSpPr/>
          <p:nvPr/>
        </p:nvSpPr>
        <p:spPr>
          <a:xfrm>
            <a:off x="576000" y="4644000"/>
            <a:ext cx="468000" cy="468000"/>
          </a:xfrm>
          <a:prstGeom prst="ellipse">
            <a:avLst/>
          </a:prstGeom>
          <a:solidFill>
            <a:srgbClr val="5E4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ncertez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320" y="4756320"/>
            <a:ext cx="243360" cy="243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06000" y="4626000"/>
            <a:ext cx="5310000" cy="79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D0F14"/>
                </a:solidFill>
                <a:latin typeface="Plus Jakarta Sans"/>
              </a:rPr>
              <a:t>De onde vem a incerteza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5F6375"/>
                </a:solidFill>
                <a:latin typeface="Plus Jakarta Sans"/>
              </a:rPr>
              <a:t>multipercurso, geometria dos satélites e céu obstruído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6000" y="2124000"/>
            <a:ext cx="4561200" cy="3996000"/>
          </a:xfrm>
          <a:prstGeom prst="roundRect">
            <a:avLst>
              <a:gd name="adj" fmla="val 3603"/>
            </a:avLst>
          </a:prstGeom>
          <a:solidFill>
            <a:srgbClr val="EEE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08000" y="2358000"/>
            <a:ext cx="396000" cy="396000"/>
          </a:xfrm>
          <a:prstGeom prst="ellipse">
            <a:avLst/>
          </a:prstGeom>
          <a:solidFill>
            <a:srgbClr val="5E4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regist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3040" y="2453040"/>
            <a:ext cx="205920" cy="205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812000" y="2376000"/>
            <a:ext cx="36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D0F14"/>
                </a:solidFill>
                <a:latin typeface="Plus Jakarta Sans"/>
              </a:rPr>
              <a:t>RegistroFix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08000" y="2951999"/>
            <a:ext cx="4068000" cy="21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5E4AE3"/>
                </a:solidFill>
                <a:latin typeface="Plus Jakarta Sans"/>
              </a:rPr>
              <a:t>tempo</a:t>
            </a:r>
            <a:r>
              <a:rPr sz="1600" b="0">
                <a:solidFill>
                  <a:srgbClr val="0D0F14"/>
                </a:solidFill>
                <a:latin typeface="Plus Jakarta Sans"/>
              </a:rPr>
              <a:t>   monotônico (ns) e UTC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5E4AE3"/>
                </a:solidFill>
                <a:latin typeface="Plus Jakarta Sans"/>
              </a:rPr>
              <a:t>lat, lon</a:t>
            </a:r>
            <a:r>
              <a:rPr sz="1600" b="0">
                <a:solidFill>
                  <a:srgbClr val="0D0F14"/>
                </a:solidFill>
                <a:latin typeface="Plus Jakarta Sans"/>
              </a:rPr>
              <a:t>   graus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5E4AE3"/>
                </a:solidFill>
                <a:latin typeface="Plus Jakarta Sans"/>
              </a:rPr>
              <a:t>r68</a:t>
            </a:r>
            <a:r>
              <a:rPr sz="1600" b="0">
                <a:solidFill>
                  <a:srgbClr val="0D0F14"/>
                </a:solidFill>
                <a:latin typeface="Plus Jakarta Sans"/>
              </a:rPr>
              <a:t>   raio horizontal de 68% (m)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5E4AE3"/>
                </a:solidFill>
                <a:latin typeface="Plus Jakarta Sans"/>
              </a:rPr>
              <a:t>s ± σs</a:t>
            </a:r>
            <a:r>
              <a:rPr sz="1600" b="0">
                <a:solidFill>
                  <a:srgbClr val="0D0F14"/>
                </a:solidFill>
                <a:latin typeface="Plus Jakarta Sans"/>
              </a:rPr>
              <a:t>   velocidade (m/s)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5E4AE3"/>
                </a:solidFill>
                <a:latin typeface="Plus Jakarta Sans"/>
              </a:rPr>
              <a:t>θ ± σθ</a:t>
            </a:r>
            <a:r>
              <a:rPr sz="1600" b="0">
                <a:solidFill>
                  <a:srgbClr val="0D0F14"/>
                </a:solidFill>
                <a:latin typeface="Plus Jakarta Sans"/>
              </a:rPr>
              <a:t>   rumo a partir do norte (°)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5E4AE3"/>
                </a:solidFill>
                <a:latin typeface="Plus Jakarta Sans"/>
              </a:rPr>
              <a:t>provedor</a:t>
            </a:r>
            <a:r>
              <a:rPr sz="1600" b="0">
                <a:solidFill>
                  <a:srgbClr val="0D0F14"/>
                </a:solidFill>
                <a:latin typeface="Plus Jakarta Sans"/>
              </a:rPr>
              <a:t>   gps ou network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08000" y="5310000"/>
            <a:ext cx="4068000" cy="68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E4AE3"/>
                </a:solidFill>
                <a:latin typeface="Plus Jakarta Sans"/>
              </a:rPr>
              <a:t>Campo ausente fica vazio: nenhuma incerteza é inventada.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6000" y="342000"/>
            <a:ext cx="1441800" cy="259200"/>
          </a:xfrm>
          <a:prstGeom prst="roundRect">
            <a:avLst>
              <a:gd name="adj" fmla="val 50000"/>
            </a:avLst>
          </a:prstGeom>
          <a:solidFill>
            <a:srgbClr val="5E4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00" y="342000"/>
            <a:ext cx="1441800" cy="25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Plus Jakarta Sans"/>
              </a:rPr>
              <a:t>FUNDAMENTAÇÃO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684000"/>
            <a:ext cx="110160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D0F14"/>
                </a:solidFill>
                <a:latin typeface="Plus Jakarta Sans"/>
              </a:rPr>
              <a:t>Memória estável durante a coleta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6462000"/>
            <a:ext cx="86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F6375"/>
                </a:solidFill>
                <a:latin typeface="Plus Jakarta Sans"/>
              </a:rPr>
              <a:t>Rastro · Apresentação I · Fundamentação · Juliano Cesar Ferreira Ramos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2000" y="6462000"/>
            <a:ext cx="1465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F6375"/>
                </a:solidFill>
                <a:latin typeface="Plus Jakarta Sans"/>
              </a:rPr>
              <a:t>3/11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1404000"/>
            <a:ext cx="11041200" cy="436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D0F14"/>
                </a:solidFill>
                <a:latin typeface="Plus Jakarta Sans"/>
              </a:rPr>
              <a:t>Duas estruturas, uma regra: </a:t>
            </a:r>
            <a:r>
              <a:rPr sz="2000" b="1">
                <a:solidFill>
                  <a:srgbClr val="5E4AE3"/>
                </a:solidFill>
                <a:latin typeface="Plus Jakarta Sans"/>
              </a:rPr>
              <a:t>a memória não cresce.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2027380"/>
            <a:ext cx="5343421" cy="1342141"/>
          </a:xfrm>
          <a:prstGeom prst="roundRect">
            <a:avLst>
              <a:gd name="adj" fmla="val 9387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1068" y="2395277"/>
            <a:ext cx="561357" cy="613161"/>
          </a:xfrm>
          <a:prstGeom prst="roundRect">
            <a:avLst>
              <a:gd name="adj" fmla="val 12826"/>
            </a:avLst>
          </a:prstGeom>
          <a:solidFill>
            <a:srgbClr val="5E4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1068" y="2395277"/>
            <a:ext cx="561357" cy="613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5392" y="2027380"/>
            <a:ext cx="4199655" cy="13421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D0F14"/>
                </a:solidFill>
                <a:latin typeface="Plus Jakarta Sans"/>
              </a:rPr>
              <a:t>Trajeto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D0F14"/>
                </a:solidFill>
                <a:latin typeface="Plus Jakarta Sans"/>
              </a:rPr>
              <a:t>guarda somente as últimas posições.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5F6375"/>
                </a:solidFill>
                <a:latin typeface="Plus Jakarta Sans"/>
              </a:rPr>
              <a:t>tamanho </a:t>
            </a:r>
            <a:r>
              <a:rPr sz="1250" b="1">
                <a:solidFill>
                  <a:srgbClr val="5E4AE3"/>
                </a:solidFill>
                <a:latin typeface="Plus Jakarta Sans"/>
              </a:rPr>
              <a:t>O(1)</a:t>
            </a:r>
            <a:r>
              <a:rPr sz="1250" b="0">
                <a:solidFill>
                  <a:srgbClr val="5F6375"/>
                </a:solidFill>
                <a:latin typeface="Plus Jakarta Sans"/>
              </a:rPr>
              <a:t> · média e recorte </a:t>
            </a:r>
            <a:r>
              <a:rPr sz="1250" b="1">
                <a:solidFill>
                  <a:srgbClr val="5E4AE3"/>
                </a:solidFill>
                <a:latin typeface="Plus Jakarta Sans"/>
              </a:rPr>
              <a:t>O(n)</a:t>
            </a:r>
            <a:r>
              <a:rPr sz="1250" b="0">
                <a:solidFill>
                  <a:srgbClr val="5F6375"/>
                </a:solidFill>
                <a:latin typeface="Plus Jakarta Sans"/>
              </a:rPr>
              <a:t> · inserção </a:t>
            </a:r>
            <a:r>
              <a:rPr sz="1250" b="1">
                <a:solidFill>
                  <a:srgbClr val="5E4AE3"/>
                </a:solidFill>
                <a:latin typeface="Plus Jakarta Sans"/>
              </a:rPr>
              <a:t>O(n)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0269" y="2027380"/>
            <a:ext cx="5343421" cy="1342141"/>
          </a:xfrm>
          <a:prstGeom prst="roundRect">
            <a:avLst>
              <a:gd name="adj" fmla="val 9387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05338" y="2395277"/>
            <a:ext cx="561357" cy="613161"/>
          </a:xfrm>
          <a:prstGeom prst="roundRect">
            <a:avLst>
              <a:gd name="adj" fmla="val 12826"/>
            </a:avLst>
          </a:prstGeom>
          <a:solidFill>
            <a:srgbClr val="5E4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5338" y="2395277"/>
            <a:ext cx="561357" cy="613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59662" y="2027380"/>
            <a:ext cx="4199655" cy="13421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D0F14"/>
                </a:solidFill>
                <a:latin typeface="Plus Jakarta Sans"/>
              </a:rPr>
              <a:t>Buffer IMU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D0F14"/>
                </a:solidFill>
                <a:latin typeface="Plus Jakarta Sans"/>
              </a:rPr>
              <a:t>guarda </a:t>
            </a:r>
            <a:r>
              <a:rPr sz="1500" b="1">
                <a:solidFill>
                  <a:srgbClr val="5E4AE3"/>
                </a:solidFill>
                <a:latin typeface="Plus Jakarta Sans"/>
              </a:rPr>
              <a:t>500 leituras</a:t>
            </a:r>
            <a:r>
              <a:rPr sz="1500" b="0">
                <a:solidFill>
                  <a:srgbClr val="0D0F14"/>
                </a:solidFill>
                <a:latin typeface="Plus Jakarta Sans"/>
              </a:rPr>
              <a:t>, cerca de 10 segundos.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5F6375"/>
                </a:solidFill>
                <a:latin typeface="Plus Jakarta Sans"/>
              </a:rPr>
              <a:t>inserção </a:t>
            </a:r>
            <a:r>
              <a:rPr sz="1250" b="1">
                <a:solidFill>
                  <a:srgbClr val="5E4AE3"/>
                </a:solidFill>
                <a:latin typeface="Plus Jakarta Sans"/>
              </a:rPr>
              <a:t>O(1)</a:t>
            </a:r>
            <a:r>
              <a:rPr sz="1250" b="0">
                <a:solidFill>
                  <a:srgbClr val="5F6375"/>
                </a:solidFill>
                <a:latin typeface="Plus Jakarta Sans"/>
              </a:rPr>
              <a:t> · descarte </a:t>
            </a:r>
            <a:r>
              <a:rPr sz="1250" b="1">
                <a:solidFill>
                  <a:srgbClr val="5E4AE3"/>
                </a:solidFill>
                <a:latin typeface="Plus Jakarta Sans"/>
              </a:rPr>
              <a:t>O(1)</a:t>
            </a:r>
            <a:r>
              <a:rPr sz="1250" b="0">
                <a:solidFill>
                  <a:srgbClr val="5F6375"/>
                </a:solidFill>
                <a:latin typeface="Plus Jakarta Sans"/>
              </a:rPr>
              <a:t> · cópia na leitura </a:t>
            </a:r>
            <a:r>
              <a:rPr sz="1250" b="1">
                <a:solidFill>
                  <a:srgbClr val="5E4AE3"/>
                </a:solidFill>
                <a:latin typeface="Plus Jakarta Sans"/>
              </a:rPr>
              <a:t>O(n)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00" y="3597754"/>
            <a:ext cx="11041200" cy="1362580"/>
          </a:xfrm>
          <a:prstGeom prst="roundRect">
            <a:avLst>
              <a:gd name="adj" fmla="val 9247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068" y="3597754"/>
            <a:ext cx="4094401" cy="13625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0D0F14"/>
                </a:solidFill>
                <a:latin typeface="Plus Jakarta Sans"/>
              </a:rPr>
              <a:t>Chegou uma leitura e está cheio?</a:t>
            </a:r>
          </a:p>
          <a:p>
            <a:pPr algn="l">
              <a:spcAft>
                <a:spcPts val="200"/>
              </a:spcAft>
            </a:pPr>
            <a:r>
              <a:rPr sz="1900" b="1">
                <a:solidFill>
                  <a:srgbClr val="5E4AE3"/>
                </a:solidFill>
                <a:latin typeface="Plus Jakarta Sans"/>
              </a:rPr>
              <a:t>A mais antiga sai.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75622" y="3825987"/>
            <a:ext cx="740290" cy="606348"/>
          </a:xfrm>
          <a:prstGeom prst="roundRect">
            <a:avLst>
              <a:gd name="adj" fmla="val 14842"/>
            </a:avLst>
          </a:prstGeom>
          <a:solidFill>
            <a:srgbClr val="D5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42218" y="3825987"/>
            <a:ext cx="740290" cy="606348"/>
          </a:xfrm>
          <a:prstGeom prst="roundRect">
            <a:avLst>
              <a:gd name="adj" fmla="val 14842"/>
            </a:avLst>
          </a:prstGeom>
          <a:solidFill>
            <a:srgbClr val="B9B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908814" y="3825987"/>
            <a:ext cx="740290" cy="606348"/>
          </a:xfrm>
          <a:prstGeom prst="roundRect">
            <a:avLst>
              <a:gd name="adj" fmla="val 14842"/>
            </a:avLst>
          </a:prstGeom>
          <a:solidFill>
            <a:srgbClr val="B9B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5409" y="3825987"/>
            <a:ext cx="740290" cy="606348"/>
          </a:xfrm>
          <a:prstGeom prst="roundRect">
            <a:avLst>
              <a:gd name="adj" fmla="val 14842"/>
            </a:avLst>
          </a:prstGeom>
          <a:solidFill>
            <a:srgbClr val="B9B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42005" y="3825987"/>
            <a:ext cx="740290" cy="606348"/>
          </a:xfrm>
          <a:prstGeom prst="roundRect">
            <a:avLst>
              <a:gd name="adj" fmla="val 14842"/>
            </a:avLst>
          </a:prstGeom>
          <a:solidFill>
            <a:srgbClr val="B9B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508600" y="3825987"/>
            <a:ext cx="740290" cy="606348"/>
          </a:xfrm>
          <a:prstGeom prst="roundRect">
            <a:avLst>
              <a:gd name="adj" fmla="val 14842"/>
            </a:avLst>
          </a:prstGeom>
          <a:solidFill>
            <a:srgbClr val="B9B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375196" y="3825987"/>
            <a:ext cx="740290" cy="606348"/>
          </a:xfrm>
          <a:prstGeom prst="roundRect">
            <a:avLst>
              <a:gd name="adj" fmla="val 14842"/>
            </a:avLst>
          </a:prstGeom>
          <a:solidFill>
            <a:srgbClr val="5E4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7215" y="4490245"/>
            <a:ext cx="1073596" cy="3202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5F6375"/>
                </a:solidFill>
                <a:latin typeface="Plus Jakarta Sans"/>
              </a:rPr>
              <a:t>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42218" y="4490245"/>
            <a:ext cx="4210181" cy="3202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D0F14"/>
                </a:solidFill>
                <a:latin typeface="Plus Jakarta Sans"/>
              </a:rPr>
              <a:t>500 leituras · ≈ 10 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3806" y="4490245"/>
            <a:ext cx="1073596" cy="3202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5E4AE3"/>
                </a:solidFill>
                <a:latin typeface="Plus Jakarta San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6000" y="5171535"/>
            <a:ext cx="5343421" cy="984464"/>
          </a:xfrm>
          <a:prstGeom prst="roundRect">
            <a:avLst>
              <a:gd name="adj" fmla="val 12798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068" y="5171535"/>
            <a:ext cx="4876793" cy="984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0D0F14"/>
                </a:solidFill>
                <a:latin typeface="Plus Jakarta Sans"/>
              </a:rPr>
              <a:t>Quem lê o buffer recebe </a:t>
            </a:r>
            <a:r>
              <a:rPr sz="1500" b="1">
                <a:solidFill>
                  <a:srgbClr val="5E4AE3"/>
                </a:solidFill>
                <a:latin typeface="Plus Jakarta Sans"/>
              </a:rPr>
              <a:t>uma cópia</a:t>
            </a:r>
            <a:r>
              <a:rPr sz="1500" b="0">
                <a:solidFill>
                  <a:srgbClr val="0D0F14"/>
                </a:solidFill>
                <a:latin typeface="Plus Jakarta Sans"/>
              </a:rPr>
              <a:t>: a leitura não se mistura com uma gravação em andamento.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70269" y="5171535"/>
            <a:ext cx="5343421" cy="984464"/>
          </a:xfrm>
          <a:prstGeom prst="roundRect">
            <a:avLst>
              <a:gd name="adj" fmla="val 12798"/>
            </a:avLst>
          </a:prstGeom>
          <a:solidFill>
            <a:srgbClr val="5E4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05338" y="5171535"/>
            <a:ext cx="4876793" cy="984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lus Jakarta Sans"/>
              </a:rPr>
              <a:t>Assim, o app pode ficar ligado por muito tempo sem aumentar o uso de memória.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6000" y="342000"/>
            <a:ext cx="1441800" cy="259200"/>
          </a:xfrm>
          <a:prstGeom prst="roundRect">
            <a:avLst>
              <a:gd name="adj" fmla="val 50000"/>
            </a:avLst>
          </a:prstGeom>
          <a:solidFill>
            <a:srgbClr val="5E4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00" y="342000"/>
            <a:ext cx="1441800" cy="25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Plus Jakarta Sans"/>
              </a:rPr>
              <a:t>FUNDAMENTAÇÃO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684000"/>
            <a:ext cx="110160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D0F14"/>
                </a:solidFill>
                <a:latin typeface="Plus Jakarta Sans"/>
              </a:rPr>
              <a:t>A precisão vem do próprio 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6462000"/>
            <a:ext cx="86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F6375"/>
                </a:solidFill>
                <a:latin typeface="Plus Jakarta Sans"/>
              </a:rPr>
              <a:t>Rastro · Apresentação I · Fundamentação · Juliano Cesar Ferreira Ramos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2000" y="6462000"/>
            <a:ext cx="1465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F6375"/>
                </a:solidFill>
                <a:latin typeface="Plus Jakarta Sans"/>
              </a:rPr>
              <a:t>4/11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00" y="1404000"/>
            <a:ext cx="561357" cy="613161"/>
          </a:xfrm>
          <a:prstGeom prst="roundRect">
            <a:avLst>
              <a:gd name="adj" fmla="val 12826"/>
            </a:avLst>
          </a:prstGeom>
          <a:solidFill>
            <a:srgbClr val="5E4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00" y="1404000"/>
            <a:ext cx="561357" cy="613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7696" y="1404000"/>
            <a:ext cx="5146946" cy="613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0D0F14"/>
                </a:solidFill>
                <a:latin typeface="Plus Jakarta Sans"/>
              </a:rPr>
              <a:t>O GPS não entrega só a posição: ele também informa uma </a:t>
            </a:r>
            <a:r>
              <a:rPr sz="1500" b="1">
                <a:solidFill>
                  <a:srgbClr val="0D0F14"/>
                </a:solidFill>
                <a:latin typeface="Plus Jakarta Sans"/>
              </a:rPr>
              <a:t>margem de erro</a:t>
            </a:r>
            <a:r>
              <a:rPr sz="1500" b="0">
                <a:solidFill>
                  <a:srgbClr val="0D0F14"/>
                </a:solidFill>
                <a:latin typeface="Plus Jakarta Sans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" y="2122761"/>
            <a:ext cx="561357" cy="613161"/>
          </a:xfrm>
          <a:prstGeom prst="roundRect">
            <a:avLst>
              <a:gd name="adj" fmla="val 12826"/>
            </a:avLst>
          </a:prstGeom>
          <a:solidFill>
            <a:srgbClr val="5E4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00" y="2122761"/>
            <a:ext cx="561357" cy="613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7696" y="2122761"/>
            <a:ext cx="5146946" cy="613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0D0F14"/>
                </a:solidFill>
                <a:latin typeface="Plus Jakarta Sans"/>
              </a:rPr>
              <a:t>O Android representa essa margem como um </a:t>
            </a:r>
            <a:r>
              <a:rPr sz="1500" b="1">
                <a:solidFill>
                  <a:srgbClr val="0D0F14"/>
                </a:solidFill>
                <a:latin typeface="Plus Jakarta Sans"/>
              </a:rPr>
              <a:t>círculo de precisão de 68%</a:t>
            </a:r>
            <a:r>
              <a:rPr sz="1500" b="0">
                <a:solidFill>
                  <a:srgbClr val="0D0F14"/>
                </a:solidFill>
                <a:latin typeface="Plus Jakarta Sans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00" y="2841522"/>
            <a:ext cx="561357" cy="613161"/>
          </a:xfrm>
          <a:prstGeom prst="roundRect">
            <a:avLst>
              <a:gd name="adj" fmla="val 12826"/>
            </a:avLst>
          </a:prstGeom>
          <a:solidFill>
            <a:srgbClr val="5E4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00" y="2841522"/>
            <a:ext cx="561357" cy="613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7696" y="2841522"/>
            <a:ext cx="5146946" cy="613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0D0F14"/>
                </a:solidFill>
                <a:latin typeface="Plus Jakarta Sans"/>
              </a:rPr>
              <a:t>Nós transformamos esse círculo em uma </a:t>
            </a:r>
            <a:r>
              <a:rPr sz="1500" b="1">
                <a:solidFill>
                  <a:srgbClr val="5E4AE3"/>
                </a:solidFill>
                <a:latin typeface="Plus Jakarta Sans"/>
              </a:rPr>
              <a:t>medida de incerteza</a:t>
            </a:r>
            <a:r>
              <a:rPr sz="1500" b="0">
                <a:solidFill>
                  <a:srgbClr val="0D0F14"/>
                </a:solidFill>
                <a:latin typeface="Plus Jakarta Sans"/>
              </a:rPr>
              <a:t> para a correção.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00" y="3597754"/>
            <a:ext cx="5848643" cy="889083"/>
          </a:xfrm>
          <a:prstGeom prst="roundRect">
            <a:avLst>
              <a:gd name="adj" fmla="val 14171"/>
            </a:avLst>
          </a:prstGeom>
          <a:solidFill>
            <a:srgbClr val="5E4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068" y="3597754"/>
            <a:ext cx="1859496" cy="8890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Plus Jakarta Sans"/>
              </a:rPr>
              <a:t>6 m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E4E0FF"/>
                </a:solidFill>
                <a:latin typeface="Plus Jakarta Sans"/>
              </a:rPr>
              <a:t>precisão r68 (exemplo)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8463" y="3597754"/>
            <a:ext cx="1157799" cy="8890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Plus Jakarta Sans"/>
              </a:rPr>
              <a:t>→</a:t>
            </a:r>
          </a:p>
          <a:p>
            <a:pPr algn="ctr">
              <a:spcAft>
                <a:spcPts val="0"/>
              </a:spcAft>
            </a:pPr>
            <a:r>
              <a:rPr sz="1150" b="0">
                <a:solidFill>
                  <a:srgbClr val="E4E0FF"/>
                </a:solidFill>
                <a:latin typeface="Plus Jakarta Sans"/>
              </a:rPr>
              <a:t>σ = r68 / √2,279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73975" y="3597754"/>
            <a:ext cx="2455938" cy="8890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Plus Jakarta Sans"/>
              </a:rPr>
              <a:t>≈ 4 m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E4E0FF"/>
                </a:solidFill>
                <a:latin typeface="Plus Jakarta Sans"/>
              </a:rPr>
              <a:t>de incerteza σ em cada direção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00" y="4660567"/>
            <a:ext cx="5848643" cy="1495432"/>
          </a:xfrm>
          <a:prstGeom prst="roundRect">
            <a:avLst>
              <a:gd name="adj" fmla="val 8425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068" y="4660567"/>
            <a:ext cx="5378506" cy="1495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0D0F14"/>
                </a:solidFill>
                <a:latin typeface="Plus Jakarta Sans"/>
              </a:rPr>
              <a:t>Com a velocidade é igual: usamos o valor, a direção e as margens informadas pelo sensor.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D0F14"/>
                </a:solidFill>
                <a:latin typeface="Plus Jakarta Sans"/>
              </a:rPr>
              <a:t>Se alguma margem não vier informada, o aplicativo </a:t>
            </a:r>
            <a:r>
              <a:rPr sz="1400" b="1">
                <a:solidFill>
                  <a:srgbClr val="5E4AE3"/>
                </a:solidFill>
                <a:latin typeface="Plus Jakarta Sans"/>
              </a:rPr>
              <a:t>não inventa um número</a:t>
            </a:r>
            <a:r>
              <a:rPr sz="1400" b="0">
                <a:solidFill>
                  <a:srgbClr val="0D0F14"/>
                </a:solidFill>
                <a:latin typeface="Plus Jakarta Sans"/>
              </a:rPr>
              <a:t>. Assim, uma leitura incerta não é tratada como se fosse confiável.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43915" y="1404000"/>
            <a:ext cx="4873284" cy="4748593"/>
          </a:xfrm>
          <a:prstGeom prst="roundRect">
            <a:avLst>
              <a:gd name="adj" fmla="val 2653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dispersao_estat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8433" y="1574322"/>
            <a:ext cx="3904247" cy="418312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859695" y="5757445"/>
            <a:ext cx="4638216" cy="3202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F6375"/>
                </a:solidFill>
                <a:latin typeface="Plus Jakarta Sans"/>
              </a:rPr>
              <a:t>Tracejado: precisão de 68% declarada pelo GPS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6000" y="342000"/>
            <a:ext cx="1441800" cy="259200"/>
          </a:xfrm>
          <a:prstGeom prst="roundRect">
            <a:avLst>
              <a:gd name="adj" fmla="val 50000"/>
            </a:avLst>
          </a:prstGeom>
          <a:solidFill>
            <a:srgbClr val="5E4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00" y="342000"/>
            <a:ext cx="1441800" cy="25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Plus Jakarta Sans"/>
              </a:rPr>
              <a:t>FUNDAMENTAÇÃO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684000"/>
            <a:ext cx="110160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D0F14"/>
                </a:solidFill>
                <a:latin typeface="Plus Jakarta Sans"/>
              </a:rPr>
              <a:t>Reconciliação sob a restrição cinemática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6462000"/>
            <a:ext cx="86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F6375"/>
                </a:solidFill>
                <a:latin typeface="Plus Jakarta Sans"/>
              </a:rPr>
              <a:t>Rastro · Apresentação I · Fundamentação · João Paulo Silva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2000" y="6462000"/>
            <a:ext cx="1465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F6375"/>
                </a:solidFill>
                <a:latin typeface="Plus Jakarta Sans"/>
              </a:rPr>
              <a:t>5/11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00" y="1404000"/>
            <a:ext cx="11041200" cy="1655999"/>
          </a:xfrm>
          <a:prstGeom prst="roundRect">
            <a:avLst>
              <a:gd name="adj" fmla="val 7608"/>
            </a:avLst>
          </a:prstGeom>
          <a:solidFill>
            <a:srgbClr val="0D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999" y="1602000"/>
            <a:ext cx="10537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9C1FF"/>
                </a:solidFill>
                <a:latin typeface="Plus Jakarta Sans"/>
              </a:rPr>
              <a:t>Restrição física: integração trapezoidal da velocidade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999" y="1890000"/>
            <a:ext cx="10537200" cy="3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Plus Jakarta Sans"/>
              </a:rPr>
              <a:t>pₐ(k+1) − pₐ(k) − ½·(vₐ(k) + vₐ(k+1))·Δtₖ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999" y="2396160"/>
            <a:ext cx="5178600" cy="519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C9C1FF"/>
                </a:solidFill>
                <a:latin typeface="Plus Jakarta Sans"/>
              </a:rPr>
              <a:t>pₐ(k)</a:t>
            </a:r>
            <a:r>
              <a:rPr sz="1250" b="0">
                <a:solidFill>
                  <a:srgbClr val="E4E6EE"/>
                </a:solidFill>
                <a:latin typeface="Plus Jakarta Sans"/>
              </a:rPr>
              <a:t>  posição do fixo k no eixo a (m, projeção local)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C9C1FF"/>
                </a:solidFill>
                <a:latin typeface="Plus Jakarta Sans"/>
              </a:rPr>
              <a:t>vₐ(k)</a:t>
            </a:r>
            <a:r>
              <a:rPr sz="1250" b="0">
                <a:solidFill>
                  <a:srgbClr val="E4E6EE"/>
                </a:solidFill>
                <a:latin typeface="Plus Jakarta Sans"/>
              </a:rPr>
              <a:t>  componente da velocidade (m/s)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C9C1FF"/>
                </a:solidFill>
                <a:latin typeface="Plus Jakarta Sans"/>
              </a:rPr>
              <a:t>Δtₖ</a:t>
            </a:r>
            <a:r>
              <a:rPr sz="1250" b="0">
                <a:solidFill>
                  <a:srgbClr val="E4E6EE"/>
                </a:solidFill>
                <a:latin typeface="Plus Jakarta Sans"/>
              </a:rPr>
              <a:t>  intervalo entre os fixos (s, relógio monotônico)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6600" y="2396160"/>
            <a:ext cx="5178600" cy="519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C9C1FF"/>
                </a:solidFill>
                <a:latin typeface="Plus Jakarta Sans"/>
              </a:rPr>
              <a:t>a</a:t>
            </a:r>
            <a:r>
              <a:rPr sz="1250" b="0">
                <a:solidFill>
                  <a:srgbClr val="E4E6EE"/>
                </a:solidFill>
                <a:latin typeface="Plus Jakarta Sans"/>
              </a:rPr>
              <a:t>  eixo leste ou norte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C9C1FF"/>
                </a:solidFill>
                <a:latin typeface="Plus Jakarta Sans"/>
              </a:rPr>
              <a:t>k</a:t>
            </a:r>
            <a:r>
              <a:rPr sz="1250" b="0">
                <a:solidFill>
                  <a:srgbClr val="E4E6EE"/>
                </a:solidFill>
                <a:latin typeface="Plus Jakarta Sans"/>
              </a:rPr>
              <a:t>  fixo da janela, de 1 a N = 10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C9C1FF"/>
                </a:solidFill>
                <a:latin typeface="Plus Jakarta Sans"/>
              </a:rPr>
              <a:t>linear</a:t>
            </a:r>
            <a:r>
              <a:rPr sz="1250" b="0">
                <a:solidFill>
                  <a:srgbClr val="E4E6EE"/>
                </a:solidFill>
                <a:latin typeface="Plus Jakarta Sans"/>
              </a:rPr>
              <a:t>  Δt é conhecido → A·y = 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00" y="3221999"/>
            <a:ext cx="6336000" cy="2160000"/>
          </a:xfrm>
          <a:prstGeom prst="roundRect">
            <a:avLst>
              <a:gd name="adj" fmla="val 5833"/>
            </a:avLst>
          </a:prstGeom>
          <a:solidFill>
            <a:srgbClr val="0D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999" y="3420000"/>
            <a:ext cx="583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9C1FF"/>
                </a:solidFill>
                <a:latin typeface="Plus Jakarta Sans"/>
              </a:rPr>
              <a:t>Mínimos quadrados ponderados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999" y="3708000"/>
            <a:ext cx="5832000" cy="328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Plus Jakarta Sans"/>
              </a:rPr>
              <a:t>ŷ = y − Σ·A</a:t>
            </a:r>
            <a:r>
              <a:rPr sz="1900" b="1">
                <a:solidFill>
                  <a:srgbClr val="FFFFFF"/>
                </a:solidFill>
                <a:latin typeface="DejaVu Sans"/>
              </a:rPr>
              <a:t>ᵀ</a:t>
            </a:r>
            <a:r>
              <a:rPr sz="1900" b="1">
                <a:solidFill>
                  <a:srgbClr val="FFFFFF"/>
                </a:solidFill>
                <a:latin typeface="Plus Jakarta Sans"/>
              </a:rPr>
              <a:t>·(A·Σ·A</a:t>
            </a:r>
            <a:r>
              <a:rPr sz="1900" b="1">
                <a:solidFill>
                  <a:srgbClr val="FFFFFF"/>
                </a:solidFill>
                <a:latin typeface="DejaVu Sans"/>
              </a:rPr>
              <a:t>ᵀ</a:t>
            </a:r>
            <a:r>
              <a:rPr sz="1900" b="1">
                <a:solidFill>
                  <a:srgbClr val="FFFFFF"/>
                </a:solidFill>
                <a:latin typeface="Plus Jakarta Sans"/>
              </a:rPr>
              <a:t>)⁻¹·A·y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999" y="4036320"/>
            <a:ext cx="5832000" cy="328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Plus Jakarta Sans"/>
              </a:rPr>
              <a:t>γ = r</a:t>
            </a:r>
            <a:r>
              <a:rPr sz="1900" b="1">
                <a:solidFill>
                  <a:srgbClr val="FFFFFF"/>
                </a:solidFill>
                <a:latin typeface="DejaVu Sans"/>
              </a:rPr>
              <a:t>ᵀ</a:t>
            </a:r>
            <a:r>
              <a:rPr sz="1900" b="1">
                <a:solidFill>
                  <a:srgbClr val="FFFFFF"/>
                </a:solidFill>
                <a:latin typeface="Plus Jakarta Sans"/>
              </a:rPr>
              <a:t>·V⁻¹·r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999" y="4490640"/>
            <a:ext cx="2826000" cy="747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C9C1FF"/>
                </a:solidFill>
                <a:latin typeface="Plus Jakarta Sans"/>
              </a:rPr>
              <a:t>y, ŷ</a:t>
            </a:r>
            <a:r>
              <a:rPr sz="1250" b="0">
                <a:solidFill>
                  <a:srgbClr val="E4E6EE"/>
                </a:solidFill>
                <a:latin typeface="Plus Jakarta Sans"/>
              </a:rPr>
              <a:t>  medidas e reconciliadas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C9C1FF"/>
                </a:solidFill>
                <a:latin typeface="Plus Jakarta Sans"/>
              </a:rPr>
              <a:t>Σ</a:t>
            </a:r>
            <a:r>
              <a:rPr sz="1250" b="0">
                <a:solidFill>
                  <a:srgbClr val="E4E6EE"/>
                </a:solidFill>
                <a:latin typeface="Plus Jakarta Sans"/>
              </a:rPr>
              <a:t>  covariância do sensor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C9C1FF"/>
                </a:solidFill>
                <a:latin typeface="Plus Jakarta Sans"/>
              </a:rPr>
              <a:t>A</a:t>
            </a:r>
            <a:r>
              <a:rPr sz="1250" b="0">
                <a:solidFill>
                  <a:srgbClr val="E4E6EE"/>
                </a:solidFill>
                <a:latin typeface="Plus Jakarta Sans"/>
              </a:rPr>
              <a:t>  2(N−1) restrições × 4N medidas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34000" y="4490640"/>
            <a:ext cx="2826000" cy="747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C9C1FF"/>
                </a:solidFill>
                <a:latin typeface="Plus Jakarta Sans"/>
              </a:rPr>
              <a:t>r</a:t>
            </a:r>
            <a:r>
              <a:rPr sz="1250" b="0">
                <a:solidFill>
                  <a:srgbClr val="E4E6EE"/>
                </a:solidFill>
                <a:latin typeface="Plus Jakarta Sans"/>
              </a:rPr>
              <a:t>  resíduo A·y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C9C1FF"/>
                </a:solidFill>
                <a:latin typeface="Plus Jakarta Sans"/>
              </a:rPr>
              <a:t>V</a:t>
            </a:r>
            <a:r>
              <a:rPr sz="1250" b="0">
                <a:solidFill>
                  <a:srgbClr val="E4E6EE"/>
                </a:solidFill>
                <a:latin typeface="Plus Jakarta Sans"/>
              </a:rPr>
              <a:t>  covariância A·Σ·A</a:t>
            </a:r>
            <a:r>
              <a:rPr sz="1250" b="0">
                <a:solidFill>
                  <a:srgbClr val="E4E6EE"/>
                </a:solidFill>
                <a:latin typeface="DejaVu Sans"/>
              </a:rPr>
              <a:t>ᵀ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C9C1FF"/>
                </a:solidFill>
                <a:latin typeface="Plus Jakarta Sans"/>
              </a:rPr>
              <a:t>γ</a:t>
            </a:r>
            <a:r>
              <a:rPr sz="1250" b="0">
                <a:solidFill>
                  <a:srgbClr val="E4E6EE"/>
                </a:solidFill>
                <a:latin typeface="Plus Jakarta Sans"/>
              </a:rPr>
              <a:t>  χ² com 2(N−1) graus de liberdade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92000" y="3221999"/>
            <a:ext cx="4525200" cy="2160000"/>
          </a:xfrm>
          <a:prstGeom prst="roundRect">
            <a:avLst>
              <a:gd name="adj" fmla="val 6666"/>
            </a:avLst>
          </a:prstGeom>
          <a:solidFill>
            <a:srgbClr val="E2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26000" y="3438000"/>
            <a:ext cx="432000" cy="432000"/>
          </a:xfrm>
          <a:prstGeom prst="ellipse">
            <a:avLst/>
          </a:prstGeom>
          <a:solidFill>
            <a:srgbClr val="0D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al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680" y="3541680"/>
            <a:ext cx="224640" cy="2246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26000" y="3978000"/>
            <a:ext cx="4068000" cy="13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0D0F14"/>
                </a:solidFill>
                <a:latin typeface="Plus Jakarta Sans"/>
              </a:rPr>
              <a:t>A medida mais incerta é a que mais se move.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5F6375"/>
                </a:solidFill>
                <a:latin typeface="Plus Jakarta Sans"/>
              </a:rPr>
              <a:t>A correção y − ŷ é proporcional a Σ. No teste com dois fixos de r68 = 2 m e 20 m, o segundo absorve cerca de 99% da correção.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00" y="5526000"/>
            <a:ext cx="1440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03E3E"/>
                </a:solidFill>
                <a:latin typeface="Plus Jakarta Sans"/>
              </a:rPr>
              <a:t>Descartadas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44000" y="5526000"/>
            <a:ext cx="3096000" cy="594000"/>
          </a:xfrm>
          <a:prstGeom prst="roundRect">
            <a:avLst>
              <a:gd name="adj" fmla="val 18181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88000" y="5526000"/>
            <a:ext cx="2844000" cy="59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D0F14"/>
                </a:solidFill>
                <a:latin typeface="Plus Jakarta Sans"/>
              </a:rPr>
              <a:t>Mínimos quadrados sem peso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5F6375"/>
                </a:solidFill>
                <a:latin typeface="Plus Jakarta Sans"/>
              </a:rPr>
              <a:t>puxa igual a medida boa e a ruim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84000" y="5526000"/>
            <a:ext cx="3096000" cy="594000"/>
          </a:xfrm>
          <a:prstGeom prst="roundRect">
            <a:avLst>
              <a:gd name="adj" fmla="val 18181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28000" y="5526000"/>
            <a:ext cx="2844000" cy="59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D0F14"/>
                </a:solidFill>
                <a:latin typeface="Plus Jakarta Sans"/>
              </a:rPr>
              <a:t>Filtro de Kalman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5F6375"/>
                </a:solidFill>
                <a:latin typeface="Plus Jakarta Sans"/>
              </a:rPr>
              <a:t>estima estado e exige ruído Q arbitrado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24000" y="5526000"/>
            <a:ext cx="3096000" cy="594000"/>
          </a:xfrm>
          <a:prstGeom prst="roundRect">
            <a:avLst>
              <a:gd name="adj" fmla="val 18181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67999" y="5526000"/>
            <a:ext cx="2844000" cy="59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D0F14"/>
                </a:solidFill>
                <a:latin typeface="Plus Jakarta Sans"/>
              </a:rPr>
              <a:t>|Δp| = s·Δt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5F6375"/>
                </a:solidFill>
                <a:latin typeface="Plus Jakarta Sans"/>
              </a:rPr>
              <a:t>não linear e perde a direção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6000" y="342000"/>
            <a:ext cx="1441800" cy="259200"/>
          </a:xfrm>
          <a:prstGeom prst="roundRect">
            <a:avLst>
              <a:gd name="adj" fmla="val 50000"/>
            </a:avLst>
          </a:prstGeom>
          <a:solidFill>
            <a:srgbClr val="5E4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00" y="342000"/>
            <a:ext cx="1441800" cy="25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Plus Jakarta Sans"/>
              </a:rPr>
              <a:t>FUNDAMENTAÇÃO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684000"/>
            <a:ext cx="110160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D0F14"/>
                </a:solidFill>
                <a:latin typeface="Plus Jakarta Sans"/>
              </a:rPr>
              <a:t>Erro grosseiro: critério quantitativo de corte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6462000"/>
            <a:ext cx="86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F6375"/>
                </a:solidFill>
                <a:latin typeface="Plus Jakarta Sans"/>
              </a:rPr>
              <a:t>Rastro · Apresentação I · Fundamentação · João Paulo Silva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2000" y="6462000"/>
            <a:ext cx="1465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F6375"/>
                </a:solidFill>
                <a:latin typeface="Plus Jakarta Sans"/>
              </a:rPr>
              <a:t>6/11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00" y="1404000"/>
            <a:ext cx="5976000" cy="3816000"/>
          </a:xfrm>
          <a:prstGeom prst="roundRect">
            <a:avLst>
              <a:gd name="adj" fmla="val 3301"/>
            </a:avLst>
          </a:prstGeom>
          <a:solidFill>
            <a:srgbClr val="0D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999" y="1602000"/>
            <a:ext cx="54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9C1FF"/>
                </a:solidFill>
                <a:latin typeface="Plus Jakarta Sans"/>
              </a:rPr>
              <a:t>Teste de medida com eliminação serial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999" y="1890000"/>
            <a:ext cx="5472000" cy="34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Plus Jakarta Sans"/>
              </a:rPr>
              <a:t>zⱼ = |aⱼ| / √Wⱼⱼ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999" y="2235600"/>
            <a:ext cx="5472000" cy="34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Plus Jakarta Sans"/>
              </a:rPr>
              <a:t>β = 1 − (1 − α)^(1/n)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999" y="2581200"/>
            <a:ext cx="5472000" cy="34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Plus Jakarta Sans"/>
              </a:rPr>
              <a:t>z_crítico = Φ⁻¹(1 − β/2) ≈ 3,2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999" y="3052799"/>
            <a:ext cx="5472000" cy="202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C9C1FF"/>
                </a:solidFill>
                <a:latin typeface="Plus Jakarta Sans"/>
              </a:rPr>
              <a:t>aⱼ</a:t>
            </a:r>
            <a:r>
              <a:rPr sz="1250" b="0">
                <a:solidFill>
                  <a:srgbClr val="E4E6EE"/>
                </a:solidFill>
                <a:latin typeface="Plus Jakarta Sans"/>
              </a:rPr>
              <a:t>  ajuste da medida j: yⱼ − ŷⱼ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C9C1FF"/>
                </a:solidFill>
                <a:latin typeface="Plus Jakarta Sans"/>
              </a:rPr>
              <a:t>Wⱼⱼ</a:t>
            </a:r>
            <a:r>
              <a:rPr sz="1250" b="0">
                <a:solidFill>
                  <a:srgbClr val="E4E6EE"/>
                </a:solidFill>
                <a:latin typeface="Plus Jakarta Sans"/>
              </a:rPr>
              <a:t>  variância do ajuste, W = Σ·A</a:t>
            </a:r>
            <a:r>
              <a:rPr sz="1250" b="0">
                <a:solidFill>
                  <a:srgbClr val="E4E6EE"/>
                </a:solidFill>
                <a:latin typeface="DejaVu Sans"/>
              </a:rPr>
              <a:t>ᵀ</a:t>
            </a:r>
            <a:r>
              <a:rPr sz="1250" b="0">
                <a:solidFill>
                  <a:srgbClr val="E4E6EE"/>
                </a:solidFill>
                <a:latin typeface="Plus Jakarta Sans"/>
              </a:rPr>
              <a:t>·V⁻¹·A·Σ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C9C1FF"/>
                </a:solidFill>
                <a:latin typeface="Plus Jakarta Sans"/>
              </a:rPr>
              <a:t>zⱼ</a:t>
            </a:r>
            <a:r>
              <a:rPr sz="1250" b="0">
                <a:solidFill>
                  <a:srgbClr val="E4E6EE"/>
                </a:solidFill>
                <a:latin typeface="Plus Jakarta Sans"/>
              </a:rPr>
              <a:t>  resíduo normalizado: N(0,1) sem erro grosseiro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C9C1FF"/>
                </a:solidFill>
                <a:latin typeface="Plus Jakarta Sans"/>
              </a:rPr>
              <a:t>α</a:t>
            </a:r>
            <a:r>
              <a:rPr sz="1250" b="0">
                <a:solidFill>
                  <a:srgbClr val="E4E6EE"/>
                </a:solidFill>
                <a:latin typeface="Plus Jakarta Sans"/>
              </a:rPr>
              <a:t>  5% de falso alarme por janela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C9C1FF"/>
                </a:solidFill>
                <a:latin typeface="Plus Jakarta Sans"/>
              </a:rPr>
              <a:t>n</a:t>
            </a:r>
            <a:r>
              <a:rPr sz="1250" b="0">
                <a:solidFill>
                  <a:srgbClr val="E4E6EE"/>
                </a:solidFill>
                <a:latin typeface="Plus Jakarta Sans"/>
              </a:rPr>
              <a:t>  40 medidas por janela (1,96 em cada daria ~87%)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C9C1FF"/>
                </a:solidFill>
                <a:latin typeface="Plus Jakarta Sans"/>
              </a:rPr>
              <a:t>β</a:t>
            </a:r>
            <a:r>
              <a:rPr sz="1250" b="0">
                <a:solidFill>
                  <a:srgbClr val="E4E6EE"/>
                </a:solidFill>
                <a:latin typeface="Plus Jakarta Sans"/>
              </a:rPr>
              <a:t>  nível de cada teste (correção de Šidák)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C9C1FF"/>
                </a:solidFill>
                <a:latin typeface="Plus Jakarta Sans"/>
              </a:rPr>
              <a:t>Φ⁻¹</a:t>
            </a:r>
            <a:r>
              <a:rPr sz="1250" b="0">
                <a:solidFill>
                  <a:srgbClr val="E4E6EE"/>
                </a:solidFill>
                <a:latin typeface="Plus Jakarta Sans"/>
              </a:rPr>
              <a:t>  quantil da normal padrão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C9C1FF"/>
                </a:solidFill>
                <a:latin typeface="Plus Jakarta Sans"/>
              </a:rPr>
              <a:t>corte</a:t>
            </a:r>
            <a:r>
              <a:rPr sz="1250" b="0">
                <a:solidFill>
                  <a:srgbClr val="E4E6EE"/>
                </a:solidFill>
                <a:latin typeface="Plus Jakarta Sans"/>
              </a:rPr>
              <a:t>  retira o fixo e reconcilia de novo, até 3 vezes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76000" y="1404000"/>
            <a:ext cx="47520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D0F14"/>
                </a:solidFill>
                <a:latin typeface="Plus Jakarta Sans"/>
              </a:rPr>
              <a:t>Sem o detector, a reconciliação piora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F6375"/>
                </a:solidFill>
                <a:latin typeface="Plus Jakarta Sans"/>
              </a:rPr>
              <a:t>salto de 30 m no fixo central · afastamento RMS dos vizinhos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803999" y="2015999"/>
          <a:ext cx="4824000" cy="237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876000" y="4446000"/>
            <a:ext cx="4752000" cy="79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F6375"/>
                </a:solidFill>
                <a:latin typeface="Plus Jakarta Sans"/>
              </a:rPr>
              <a:t>Referência: a mesma janela reconciliada sem o salto. O fixo corrompido foi localizado em 85 de 85 janelas reais.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00" y="5400000"/>
            <a:ext cx="11041200" cy="720000"/>
          </a:xfrm>
          <a:prstGeom prst="roundRect">
            <a:avLst>
              <a:gd name="adj" fmla="val 17500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4000" y="5562000"/>
            <a:ext cx="396000" cy="396000"/>
          </a:xfrm>
          <a:prstGeom prst="ellipse">
            <a:avLst/>
          </a:prstGeom>
          <a:solidFill>
            <a:srgbClr val="E0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aler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039" y="5657039"/>
            <a:ext cx="205920" cy="2059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14000" y="5400000"/>
            <a:ext cx="10152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D0F14"/>
                </a:solidFill>
                <a:latin typeface="Plus Jakarta Sans"/>
              </a:rPr>
              <a:t>Limite: </a:t>
            </a:r>
            <a:r>
              <a:rPr sz="1400" b="0">
                <a:solidFill>
                  <a:srgbClr val="0D0F14"/>
                </a:solidFill>
                <a:latin typeface="Plus Jakarta Sans"/>
              </a:rPr>
              <a:t>nos fixos das pontas há uma restrição por eixo e todas as medidas dela têm o mesmo z. O erro é detectado, mas não localizado: por isso a reprodução usa janela deslizante.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6000" y="342000"/>
            <a:ext cx="1441800" cy="259200"/>
          </a:xfrm>
          <a:prstGeom prst="roundRect">
            <a:avLst>
              <a:gd name="adj" fmla="val 50000"/>
            </a:avLst>
          </a:prstGeom>
          <a:solidFill>
            <a:srgbClr val="5E4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00" y="342000"/>
            <a:ext cx="1441800" cy="25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Plus Jakarta Sans"/>
              </a:rPr>
              <a:t>FUNDAMENTAÇÃO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684000"/>
            <a:ext cx="110160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D0F14"/>
                </a:solidFill>
                <a:latin typeface="Plus Jakarta Sans"/>
              </a:rPr>
              <a:t>Coleta contínua, sem conflito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6462000"/>
            <a:ext cx="86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F6375"/>
                </a:solidFill>
                <a:latin typeface="Plus Jakarta Sans"/>
              </a:rPr>
              <a:t>Rastro · Apresentação I · Fundamentação · Juliano Cesar Ferreira Ramos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2000" y="6462000"/>
            <a:ext cx="1465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F6375"/>
                </a:solidFill>
                <a:latin typeface="Plus Jakarta Sans"/>
              </a:rPr>
              <a:t>7/11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00" y="1404000"/>
            <a:ext cx="2631363" cy="681290"/>
          </a:xfrm>
          <a:prstGeom prst="roundRect">
            <a:avLst>
              <a:gd name="adj" fmla="val 18494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1424" y="1404000"/>
            <a:ext cx="2378752" cy="6812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D0F14"/>
                </a:solidFill>
                <a:latin typeface="Plus Jakarta Sans"/>
              </a:rPr>
              <a:t>Acelerômetro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F6375"/>
                </a:solidFill>
                <a:latin typeface="Plus Jakarta Sans"/>
              </a:rPr>
              <a:t>50 leituras por segundo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02092" y="1622012"/>
            <a:ext cx="371899" cy="245264"/>
          </a:xfrm>
          <a:prstGeom prst="rightArrow">
            <a:avLst/>
          </a:prstGeom>
          <a:solidFill>
            <a:srgbClr val="B9B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6000" y="2218141"/>
            <a:ext cx="2631363" cy="681290"/>
          </a:xfrm>
          <a:prstGeom prst="roundRect">
            <a:avLst>
              <a:gd name="adj" fmla="val 18494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1424" y="2218141"/>
            <a:ext cx="2378752" cy="6812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D0F14"/>
                </a:solidFill>
                <a:latin typeface="Plus Jakarta Sans"/>
              </a:rPr>
              <a:t>GPS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F6375"/>
                </a:solidFill>
                <a:latin typeface="Plus Jakarta Sans"/>
              </a:rPr>
              <a:t>um fixo por segundo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302092" y="2436154"/>
            <a:ext cx="371899" cy="245264"/>
          </a:xfrm>
          <a:prstGeom prst="rightArrow">
            <a:avLst/>
          </a:prstGeom>
          <a:solidFill>
            <a:srgbClr val="B9B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6000" y="3032283"/>
            <a:ext cx="2631363" cy="681290"/>
          </a:xfrm>
          <a:prstGeom prst="roundRect">
            <a:avLst>
              <a:gd name="adj" fmla="val 18494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1424" y="3032283"/>
            <a:ext cx="2378752" cy="6812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D0F14"/>
                </a:solidFill>
                <a:latin typeface="Plus Jakarta Sans"/>
              </a:rPr>
              <a:t>Consumidor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F6375"/>
                </a:solidFill>
                <a:latin typeface="Plus Jakarta Sans"/>
              </a:rPr>
              <a:t>organiza os dados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302092" y="3250296"/>
            <a:ext cx="371899" cy="245264"/>
          </a:xfrm>
          <a:prstGeom prst="rightArrow">
            <a:avLst/>
          </a:prstGeom>
          <a:solidFill>
            <a:srgbClr val="B9B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6000" y="3846425"/>
            <a:ext cx="2631363" cy="681290"/>
          </a:xfrm>
          <a:prstGeom prst="roundRect">
            <a:avLst>
              <a:gd name="adj" fmla="val 18494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1424" y="3846425"/>
            <a:ext cx="2378752" cy="6812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D0F14"/>
                </a:solidFill>
                <a:latin typeface="Plus Jakarta Sans"/>
              </a:rPr>
              <a:t>Registro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F6375"/>
                </a:solidFill>
                <a:latin typeface="Plus Jakarta Sans"/>
              </a:rPr>
              <a:t>salva os dados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302092" y="4064438"/>
            <a:ext cx="371899" cy="245264"/>
          </a:xfrm>
          <a:prstGeom prst="rightArrow">
            <a:avLst/>
          </a:prstGeom>
          <a:solidFill>
            <a:srgbClr val="B9B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772229" y="1404000"/>
            <a:ext cx="2582244" cy="3123716"/>
          </a:xfrm>
          <a:prstGeom prst="roundRect">
            <a:avLst>
              <a:gd name="adj" fmla="val 4879"/>
            </a:avLst>
          </a:prstGeom>
          <a:solidFill>
            <a:srgbClr val="5E4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73975" y="1404000"/>
            <a:ext cx="2385769" cy="24049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Plus Jakarta Sans"/>
              </a:rPr>
              <a:t>Buffer e gravador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E4E0FF"/>
                </a:solidFill>
                <a:latin typeface="Plus Jakarta Sans"/>
              </a:rPr>
              <a:t>Cada um protegido por um único cadeado.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87992" y="3921367"/>
            <a:ext cx="1950717" cy="398554"/>
          </a:xfrm>
          <a:prstGeom prst="roundRect">
            <a:avLst>
              <a:gd name="adj" fmla="val 4967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87992" y="3921367"/>
            <a:ext cx="1950717" cy="3985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5E4AE3"/>
                </a:solidFill>
                <a:latin typeface="Plus Jakarta Sans"/>
              </a:rPr>
              <a:t>synchronized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00" y="4752541"/>
            <a:ext cx="5778473" cy="1400051"/>
          </a:xfrm>
          <a:prstGeom prst="roundRect">
            <a:avLst>
              <a:gd name="adj" fmla="val 8999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068" y="4752541"/>
            <a:ext cx="5308336" cy="14000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E4AE3"/>
                </a:solidFill>
                <a:latin typeface="Plus Jakarta Sans"/>
              </a:rPr>
              <a:t>synchronized</a:t>
            </a:r>
            <a:r>
              <a:rPr sz="1500" b="1">
                <a:solidFill>
                  <a:srgbClr val="0D0F14"/>
                </a:solidFill>
                <a:latin typeface="Plus Jakarta Sans"/>
              </a:rPr>
              <a:t> funciona como um cadeado: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D0F14"/>
                </a:solidFill>
                <a:latin typeface="Plus Jakarta Sans"/>
              </a:rPr>
              <a:t>apenas uma parte mexe em cada estrutura por vez.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F6375"/>
                </a:solidFill>
                <a:latin typeface="Plus Jakarta Sans"/>
              </a:rPr>
              <a:t>Descartados: ConcurrentLinkedQueue (não limita nem conta o descarte) e ReentrantLock (sem uso para tryLock). Escalonamento: CFS do Android, sem tempo real.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45677" y="1404000"/>
            <a:ext cx="4971522" cy="1836077"/>
          </a:xfrm>
          <a:prstGeom prst="roundRect">
            <a:avLst>
              <a:gd name="adj" fmla="val 6862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80746" y="1574322"/>
            <a:ext cx="4501385" cy="378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D0F14"/>
                </a:solidFill>
                <a:latin typeface="Plus Jakarta Sans"/>
              </a:rPr>
              <a:t>Resultado no aparelho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80746" y="2064851"/>
            <a:ext cx="2143683" cy="1042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5E4AE3"/>
                </a:solidFill>
                <a:latin typeface="Plus Jakarta Sans"/>
              </a:rPr>
              <a:t>36,3 min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F6375"/>
                </a:solidFill>
                <a:latin typeface="Plus Jakarta Sans"/>
              </a:rPr>
              <a:t>com a tela bloqueada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8447" y="2064851"/>
            <a:ext cx="2143683" cy="1042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5E4AE3"/>
                </a:solidFill>
                <a:latin typeface="Plus Jakarta Sans"/>
              </a:rPr>
              <a:t>50,1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F6375"/>
                </a:solidFill>
                <a:latin typeface="Plus Jakarta Sans"/>
              </a:rPr>
              <a:t>leituras por segundo na IMU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45677" y="3468309"/>
            <a:ext cx="4971522" cy="2687690"/>
          </a:xfrm>
          <a:prstGeom prst="roundRect">
            <a:avLst>
              <a:gd name="adj" fmla="val 4688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80746" y="3638632"/>
            <a:ext cx="4501385" cy="378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D0F14"/>
                </a:solidFill>
                <a:latin typeface="Plus Jakarta Sans"/>
              </a:rPr>
              <a:t>Teste de corrida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80746" y="4129161"/>
            <a:ext cx="2143683" cy="1042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5E4AE3"/>
                </a:solidFill>
                <a:latin typeface="Plus Jakarta Sans"/>
              </a:rPr>
              <a:t>10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F6375"/>
                </a:solidFill>
                <a:latin typeface="Plus Jakarta Sans"/>
              </a:rPr>
              <a:t>execuções independentes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8447" y="4129161"/>
            <a:ext cx="2143683" cy="1042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5E4AE3"/>
                </a:solidFill>
                <a:latin typeface="Plus Jakarta Sans"/>
              </a:rPr>
              <a:t>10 mil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F6375"/>
                </a:solidFill>
                <a:latin typeface="Plus Jakarta Sans"/>
              </a:rPr>
              <a:t>leituras por rodada, 10 rodadas cada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80746" y="5341858"/>
            <a:ext cx="4501385" cy="585909"/>
          </a:xfrm>
          <a:prstGeom prst="roundRect">
            <a:avLst>
              <a:gd name="adj" fmla="val 21505"/>
            </a:avLst>
          </a:prstGeom>
          <a:solidFill>
            <a:srgbClr val="5E4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80746" y="5341858"/>
            <a:ext cx="4501385" cy="5859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Plus Jakarta Sans"/>
              </a:rPr>
              <a:t>Nenhuma inconsistência observada.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6000" y="342000"/>
            <a:ext cx="1441800" cy="259200"/>
          </a:xfrm>
          <a:prstGeom prst="roundRect">
            <a:avLst>
              <a:gd name="adj" fmla="val 50000"/>
            </a:avLst>
          </a:prstGeom>
          <a:solidFill>
            <a:srgbClr val="5E4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00" y="342000"/>
            <a:ext cx="1441800" cy="25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Plus Jakarta Sans"/>
              </a:rPr>
              <a:t>FUNDAMENTAÇÃO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684000"/>
            <a:ext cx="110160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D0F14"/>
                </a:solidFill>
                <a:latin typeface="Plus Jakarta Sans"/>
              </a:rPr>
              <a:t>Ensaio reprodutível e injeção de falhas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6462000"/>
            <a:ext cx="86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F6375"/>
                </a:solidFill>
                <a:latin typeface="Plus Jakarta Sans"/>
              </a:rPr>
              <a:t>Rastro · Apresentação I · Fundamentação · João Paulo Silva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2000" y="6462000"/>
            <a:ext cx="1465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F6375"/>
                </a:solidFill>
                <a:latin typeface="Plus Jakarta Sans"/>
              </a:rPr>
              <a:t>8/11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00" y="1404000"/>
            <a:ext cx="4896000" cy="1080000"/>
          </a:xfrm>
          <a:prstGeom prst="roundRect">
            <a:avLst>
              <a:gd name="adj" fmla="val 13333"/>
            </a:avLst>
          </a:prstGeom>
          <a:solidFill>
            <a:srgbClr val="EEE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92000" y="1602000"/>
            <a:ext cx="468000" cy="468000"/>
          </a:xfrm>
          <a:prstGeom prst="ellipse">
            <a:avLst/>
          </a:prstGeom>
          <a:solidFill>
            <a:srgbClr val="5E4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em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320" y="1714320"/>
            <a:ext cx="243360" cy="243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04000" y="1494000"/>
            <a:ext cx="3960000" cy="93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D0F14"/>
                </a:solidFill>
                <a:latin typeface="Plus Jakarta Sans"/>
              </a:rPr>
              <a:t>Semente 20261020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F6375"/>
                </a:solidFill>
                <a:latin typeface="Plus Jakarta Sans"/>
              </a:rPr>
              <a:t>java.util.Random tem algoritmo especificado: o mesmo resultado em qualquer JVM ou Android. Um gerador por (semente, rótulo).</a:t>
            </a:r>
          </a:p>
        </p:txBody>
      </p:sp>
      <p:sp>
        <p:nvSpPr>
          <p:cNvPr id="11" name="Oval 10"/>
          <p:cNvSpPr/>
          <p:nvPr/>
        </p:nvSpPr>
        <p:spPr>
          <a:xfrm>
            <a:off x="576000" y="2718000"/>
            <a:ext cx="413999" cy="413999"/>
          </a:xfrm>
          <a:prstGeom prst="ellipse">
            <a:avLst/>
          </a:prstGeom>
          <a:solidFill>
            <a:srgbClr val="5E4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ui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60" y="2817360"/>
            <a:ext cx="215280" cy="215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52000" y="2700000"/>
            <a:ext cx="4320000" cy="79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D0F14"/>
                </a:solidFill>
                <a:latin typeface="Plus Jakarta Sans"/>
              </a:rPr>
              <a:t>Ruído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F6375"/>
                </a:solidFill>
                <a:latin typeface="Plus Jakarta Sans"/>
              </a:rPr>
              <a:t>gaussiano extra, sem mudar a acurácia declarada (sensor otimista)</a:t>
            </a:r>
          </a:p>
        </p:txBody>
      </p:sp>
      <p:sp>
        <p:nvSpPr>
          <p:cNvPr id="14" name="Oval 13"/>
          <p:cNvSpPr/>
          <p:nvPr/>
        </p:nvSpPr>
        <p:spPr>
          <a:xfrm>
            <a:off x="576000" y="3761999"/>
            <a:ext cx="413999" cy="413999"/>
          </a:xfrm>
          <a:prstGeom prst="ellipse">
            <a:avLst/>
          </a:prstGeom>
          <a:solidFill>
            <a:srgbClr val="5E4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er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360" y="3861359"/>
            <a:ext cx="215280" cy="2152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52000" y="3743999"/>
            <a:ext cx="4320000" cy="79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D0F14"/>
                </a:solidFill>
                <a:latin typeface="Plus Jakarta Sans"/>
              </a:rPr>
              <a:t>Perda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F6375"/>
                </a:solidFill>
                <a:latin typeface="Plus Jakarta Sans"/>
              </a:rPr>
              <a:t>fixos retirados com probabilidade p (a janela encurta e Δt cresce)</a:t>
            </a:r>
          </a:p>
        </p:txBody>
      </p:sp>
      <p:sp>
        <p:nvSpPr>
          <p:cNvPr id="17" name="Oval 16"/>
          <p:cNvSpPr/>
          <p:nvPr/>
        </p:nvSpPr>
        <p:spPr>
          <a:xfrm>
            <a:off x="576000" y="4806000"/>
            <a:ext cx="413999" cy="413999"/>
          </a:xfrm>
          <a:prstGeom prst="ellipse">
            <a:avLst/>
          </a:prstGeom>
          <a:solidFill>
            <a:srgbClr val="E0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alt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360" y="4905360"/>
            <a:ext cx="215280" cy="2152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52000" y="4788000"/>
            <a:ext cx="4320000" cy="79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D0F14"/>
                </a:solidFill>
                <a:latin typeface="Plus Jakarta Sans"/>
              </a:rPr>
              <a:t>Salto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F6375"/>
                </a:solidFill>
                <a:latin typeface="Plus Jakarta Sans"/>
              </a:rPr>
              <a:t>um fixo deslocado de J metros em direção sorteada: o erro grosseiro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3999" y="1404000"/>
            <a:ext cx="5724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D0F14"/>
                </a:solidFill>
                <a:latin typeface="Plus Jakarta Sans"/>
              </a:rPr>
              <a:t>Onde a detecção começa a falhar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5796000" y="1764000"/>
          <a:ext cx="5832000" cy="30960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5903999" y="4986000"/>
            <a:ext cx="1800000" cy="1134000"/>
          </a:xfrm>
          <a:prstGeom prst="roundRect">
            <a:avLst>
              <a:gd name="adj" fmla="val 11111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47999" y="5040000"/>
            <a:ext cx="1548000" cy="10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5E4AE3"/>
                </a:solidFill>
                <a:latin typeface="Plus Jakarta Sans"/>
              </a:rPr>
              <a:t>5 m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5F6375"/>
                </a:solidFill>
                <a:latin typeface="Plus Jakarta Sans"/>
              </a:rPr>
              <a:t>menor salto com ≥ 90% de detecção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37200" y="4986000"/>
            <a:ext cx="1800000" cy="1134000"/>
          </a:xfrm>
          <a:prstGeom prst="roundRect">
            <a:avLst>
              <a:gd name="adj" fmla="val 11111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81199" y="5040000"/>
            <a:ext cx="1548000" cy="10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E03E3E"/>
                </a:solidFill>
                <a:latin typeface="Plus Jakarta Sans"/>
              </a:rPr>
              <a:t>33%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5F6375"/>
                </a:solidFill>
                <a:latin typeface="Plus Jakarta Sans"/>
              </a:rPr>
              <a:t>de falso alarme com 1 m de ruído não declarado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70400" y="4986000"/>
            <a:ext cx="1800000" cy="1134000"/>
          </a:xfrm>
          <a:prstGeom prst="roundRect">
            <a:avLst>
              <a:gd name="adj" fmla="val 11111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14400" y="5040000"/>
            <a:ext cx="1548000" cy="10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0D9F6E"/>
                </a:solidFill>
                <a:latin typeface="Plus Jakarta Sans"/>
              </a:rPr>
              <a:t>50%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5F6375"/>
                </a:solidFill>
                <a:latin typeface="Plus Jakarta Sans"/>
              </a:rPr>
              <a:t>de perda de fixos sem mudar a detecção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6000" y="342000"/>
            <a:ext cx="1272600" cy="259200"/>
          </a:xfrm>
          <a:prstGeom prst="roundRect">
            <a:avLst>
              <a:gd name="adj" fmla="val 50000"/>
            </a:avLst>
          </a:prstGeom>
          <a:solidFill>
            <a:srgbClr val="0D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00" y="342000"/>
            <a:ext cx="1272600" cy="25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Plus Jakarta Sans"/>
              </a:rPr>
              <a:t>MVP AO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684000"/>
            <a:ext cx="110160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D0F14"/>
                </a:solidFill>
                <a:latin typeface="Plus Jakarta Sans"/>
              </a:rPr>
              <a:t>MVP ao vivo: o caminho do dado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6462000"/>
            <a:ext cx="86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F6375"/>
                </a:solidFill>
                <a:latin typeface="Plus Jakarta Sans"/>
              </a:rPr>
              <a:t>Rastro · Apresentação I · MVP ao vivo · Juliano, Andre e João Paulo · 9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2000" y="6462000"/>
            <a:ext cx="1465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F6375"/>
                </a:solidFill>
                <a:latin typeface="Plus Jakarta Sans"/>
              </a:rPr>
              <a:t>9/11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00" y="1440000"/>
            <a:ext cx="3589200" cy="1800000"/>
          </a:xfrm>
          <a:prstGeom prst="roundRect">
            <a:avLst>
              <a:gd name="adj" fmla="val 8000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92000" y="1655999"/>
            <a:ext cx="468000" cy="468000"/>
          </a:xfrm>
          <a:prstGeom prst="ellipse">
            <a:avLst/>
          </a:prstGeom>
          <a:solidFill>
            <a:srgbClr val="0D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elu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320" y="1768320"/>
            <a:ext cx="243360" cy="243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11999" y="1602000"/>
            <a:ext cx="648000" cy="50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2800" b="1">
                <a:solidFill>
                  <a:srgbClr val="C4C8D4"/>
                </a:solidFill>
                <a:latin typeface="Plus Jakarta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2250000"/>
            <a:ext cx="3168000" cy="93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0D0F14"/>
                </a:solidFill>
                <a:latin typeface="Plus Jakarta Sans"/>
              </a:rPr>
              <a:t>Aparelho bloqueado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F6375"/>
                </a:solidFill>
                <a:latin typeface="Plus Jakarta Sans"/>
              </a:rPr>
              <a:t>notificação com fixos GNSS, IMU e tempo subindo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2000" y="1440000"/>
            <a:ext cx="3589200" cy="1800000"/>
          </a:xfrm>
          <a:prstGeom prst="roundRect">
            <a:avLst>
              <a:gd name="adj" fmla="val 8000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18000" y="1655999"/>
            <a:ext cx="468000" cy="468000"/>
          </a:xfrm>
          <a:prstGeom prst="ellipse">
            <a:avLst/>
          </a:prstGeom>
          <a:solidFill>
            <a:srgbClr val="0D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up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319" y="1768320"/>
            <a:ext cx="243360" cy="243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037999" y="1602000"/>
            <a:ext cx="648000" cy="50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2800" b="1">
                <a:solidFill>
                  <a:srgbClr val="C4C8D4"/>
                </a:solidFill>
                <a:latin typeface="Plus Jakarta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8000" y="2250000"/>
            <a:ext cx="3168000" cy="93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0D0F14"/>
                </a:solidFill>
                <a:latin typeface="Plus Jakarta Sans"/>
              </a:rPr>
              <a:t>Tela Ensaio AV1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F6375"/>
                </a:solidFill>
                <a:latin typeface="Plus Jakarta Sans"/>
              </a:rPr>
              <a:t>toque longo no status: aquisição ao vivo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000" y="1440000"/>
            <a:ext cx="3589200" cy="1800000"/>
          </a:xfrm>
          <a:prstGeom prst="roundRect">
            <a:avLst>
              <a:gd name="adj" fmla="val 8000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000" y="1655999"/>
            <a:ext cx="468000" cy="468000"/>
          </a:xfrm>
          <a:prstGeom prst="ellipse">
            <a:avLst/>
          </a:prstGeom>
          <a:solidFill>
            <a:srgbClr val="0D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p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6320" y="1768320"/>
            <a:ext cx="243360" cy="2433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764000" y="1602000"/>
            <a:ext cx="648000" cy="50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2800" b="1">
                <a:solidFill>
                  <a:srgbClr val="C4C8D4"/>
                </a:solidFill>
                <a:latin typeface="Plus Jakarta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4000" y="2250000"/>
            <a:ext cx="3168000" cy="93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0D0F14"/>
                </a:solidFill>
                <a:latin typeface="Plus Jakarta Sans"/>
              </a:rPr>
              <a:t>Reprodução ×10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F6375"/>
                </a:solidFill>
                <a:latin typeface="Plus Jakarta Sans"/>
              </a:rPr>
              <a:t>caminhada real, salto de 30 m, semente 20261020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00" y="3438000"/>
            <a:ext cx="3589200" cy="1800000"/>
          </a:xfrm>
          <a:prstGeom prst="roundRect">
            <a:avLst>
              <a:gd name="adj" fmla="val 8000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2000" y="3654000"/>
            <a:ext cx="468000" cy="468000"/>
          </a:xfrm>
          <a:prstGeom prst="ellipse">
            <a:avLst/>
          </a:prstGeom>
          <a:solidFill>
            <a:srgbClr val="0D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grafic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320" y="3766320"/>
            <a:ext cx="243360" cy="2433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311999" y="3600000"/>
            <a:ext cx="648000" cy="50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2800" b="1">
                <a:solidFill>
                  <a:srgbClr val="C4C8D4"/>
                </a:solidFill>
                <a:latin typeface="Plus Jakarta San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000" y="4248000"/>
            <a:ext cx="3168000" cy="93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0D0F14"/>
                </a:solidFill>
                <a:latin typeface="Plus Jakarta Sans"/>
              </a:rPr>
              <a:t>Resíduo na tela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F6375"/>
                </a:solidFill>
                <a:latin typeface="Plus Jakarta Sans"/>
              </a:rPr>
              <a:t>RMS antes → depois e γ contra o limite χ² de 95%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02000" y="3438000"/>
            <a:ext cx="3589200" cy="1800000"/>
          </a:xfrm>
          <a:prstGeom prst="roundRect">
            <a:avLst>
              <a:gd name="adj" fmla="val 8000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18000" y="3654000"/>
            <a:ext cx="468000" cy="468000"/>
          </a:xfrm>
          <a:prstGeom prst="ellipse">
            <a:avLst/>
          </a:prstGeom>
          <a:solidFill>
            <a:srgbClr val="0D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alv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0319" y="3766320"/>
            <a:ext cx="243360" cy="2433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037999" y="3600000"/>
            <a:ext cx="648000" cy="50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2800" b="1">
                <a:solidFill>
                  <a:srgbClr val="C4C8D4"/>
                </a:solidFill>
                <a:latin typeface="Plus Jakarta San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8000" y="4248000"/>
            <a:ext cx="3168000" cy="93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0D0F14"/>
                </a:solidFill>
                <a:latin typeface="Plus Jakarta Sans"/>
              </a:rPr>
              <a:t>Erro grosseiro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F6375"/>
                </a:solidFill>
                <a:latin typeface="Plus Jakarta Sans"/>
              </a:rPr>
              <a:t>“ERRO GROSSEIRO no fixo N ← o salto injetado”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28000" y="3438000"/>
            <a:ext cx="3589200" cy="18000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44000" y="3654000"/>
            <a:ext cx="468000" cy="468000"/>
          </a:xfrm>
          <a:prstGeom prst="ellipse">
            <a:avLst/>
          </a:prstGeom>
          <a:solidFill>
            <a:srgbClr val="E0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alert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6320" y="3766320"/>
            <a:ext cx="243360" cy="24336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764000" y="3600000"/>
            <a:ext cx="648000" cy="50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2800" b="1">
                <a:solidFill>
                  <a:srgbClr val="E03E3E"/>
                </a:solidFill>
                <a:latin typeface="Plus Jakarta Sans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4000" y="4248000"/>
            <a:ext cx="3168000" cy="93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0D0F14"/>
                </a:solidFill>
                <a:latin typeface="Plus Jakarta Sans"/>
              </a:rPr>
              <a:t>Falha de propósito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F6375"/>
                </a:solidFill>
                <a:latin typeface="Plus Jakarta Sans"/>
              </a:rPr>
              <a:t>salto de 2 m, abaixo do mínimo detectável (5 m): passa sem ser detectado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76000" y="5472000"/>
            <a:ext cx="11041200" cy="648000"/>
          </a:xfrm>
          <a:prstGeom prst="roundRect">
            <a:avLst>
              <a:gd name="adj" fmla="val 19444"/>
            </a:avLst>
          </a:prstGeom>
          <a:solidFill>
            <a:srgbClr val="E2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2000" y="5472000"/>
            <a:ext cx="10620000" cy="64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D0F14"/>
                </a:solidFill>
                <a:latin typeface="Plus Jakarta Sans"/>
              </a:rPr>
              <a:t>Antes da aula: </a:t>
            </a:r>
            <a:r>
              <a:rPr sz="1350" b="0">
                <a:solidFill>
                  <a:srgbClr val="0D0F14"/>
                </a:solidFill>
                <a:latin typeface="Plus Jakarta Sans"/>
              </a:rPr>
              <a:t>app ativado 30+ min antes com a tela bloqueada · localização “Permitir o tempo todo” · economia de energia desligada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6000" y="342000"/>
            <a:ext cx="1188000" cy="259200"/>
          </a:xfrm>
          <a:prstGeom prst="roundRect">
            <a:avLst>
              <a:gd name="adj" fmla="val 50000"/>
            </a:avLst>
          </a:prstGeom>
          <a:solidFill>
            <a:srgbClr val="0D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00" y="342000"/>
            <a:ext cx="118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Plus Jakarta Sans"/>
              </a:rPr>
              <a:t>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684000"/>
            <a:ext cx="110160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D0F14"/>
                </a:solidFill>
                <a:latin typeface="Plus Jakarta Sans"/>
              </a:rPr>
              <a:t>Resultados com a condição de medição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6462000"/>
            <a:ext cx="86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F6375"/>
                </a:solidFill>
                <a:latin typeface="Plus Jakarta Sans"/>
              </a:rPr>
              <a:t>Rastro · Apresentação I · Resultados · Andre Bueno Ocanha · 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2000" y="6462000"/>
            <a:ext cx="1465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F6375"/>
                </a:solidFill>
                <a:latin typeface="Plus Jakarta Sans"/>
              </a:rPr>
              <a:t>10/11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00" y="1422000"/>
            <a:ext cx="2671200" cy="2070000"/>
          </a:xfrm>
          <a:prstGeom prst="roundRect">
            <a:avLst>
              <a:gd name="adj" fmla="val 6956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56000" y="1602000"/>
            <a:ext cx="378000" cy="378000"/>
          </a:xfrm>
          <a:prstGeom prst="ellipse">
            <a:avLst/>
          </a:prstGeom>
          <a:solidFill>
            <a:srgbClr val="0D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es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20" y="1692720"/>
            <a:ext cx="196560" cy="196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6000" y="2088000"/>
            <a:ext cx="2376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5E4AE3"/>
                </a:solidFill>
                <a:latin typeface="Plus Jakarta Sans"/>
              </a:rPr>
              <a:t>161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6000" y="2646000"/>
            <a:ext cx="2376000" cy="827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0D0F14"/>
                </a:solidFill>
                <a:latin typeface="Plus Jakarta Sans"/>
              </a:rPr>
              <a:t>testes de unidade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F6375"/>
                </a:solidFill>
                <a:latin typeface="Plus Jakarta Sans"/>
              </a:rPr>
              <a:t>0 falhas · 29 classes · gradlew test no 710ef50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6000" y="1422000"/>
            <a:ext cx="2671200" cy="2070000"/>
          </a:xfrm>
          <a:prstGeom prst="roundRect">
            <a:avLst>
              <a:gd name="adj" fmla="val 6956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46000" y="1602000"/>
            <a:ext cx="378000" cy="378000"/>
          </a:xfrm>
          <a:prstGeom prst="ellipse">
            <a:avLst/>
          </a:prstGeom>
          <a:solidFill>
            <a:srgbClr val="0D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6720" y="1692720"/>
            <a:ext cx="196560" cy="1965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46000" y="2088000"/>
            <a:ext cx="2376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5E4AE3"/>
                </a:solidFill>
                <a:latin typeface="Plus Jakarta Sans"/>
              </a:rPr>
              <a:t>10 de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6000" y="2646000"/>
            <a:ext cx="2376000" cy="827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0D0F14"/>
                </a:solidFill>
                <a:latin typeface="Plus Jakarta Sans"/>
              </a:rPr>
              <a:t>execuções do teste de corrida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F6375"/>
                </a:solidFill>
                <a:latin typeface="Plus Jakarta Sans"/>
              </a:rPr>
              <a:t>sem falha · execuções independentes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6000" y="1422000"/>
            <a:ext cx="2671200" cy="2070000"/>
          </a:xfrm>
          <a:prstGeom prst="roundRect">
            <a:avLst>
              <a:gd name="adj" fmla="val 6956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36000" y="1602000"/>
            <a:ext cx="378000" cy="378000"/>
          </a:xfrm>
          <a:prstGeom prst="ellipse">
            <a:avLst/>
          </a:prstGeom>
          <a:solidFill>
            <a:srgbClr val="0D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relog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6720" y="1692720"/>
            <a:ext cx="196560" cy="1965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336000" y="2088000"/>
            <a:ext cx="2376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5E4AE3"/>
                </a:solidFill>
                <a:latin typeface="Plus Jakarta Sans"/>
              </a:rPr>
              <a:t>36,3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000" y="2646000"/>
            <a:ext cx="2376000" cy="827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0D0F14"/>
                </a:solidFill>
                <a:latin typeface="Plus Jakarta Sans"/>
              </a:rPr>
              <a:t>de aquisição com a tela bloqueada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F6375"/>
                </a:solidFill>
                <a:latin typeface="Plus Jakarta Sans"/>
              </a:rPr>
              <a:t>IMU 50,1 Hz · 0 leituras perdidas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46000" y="1422000"/>
            <a:ext cx="2671200" cy="2070000"/>
          </a:xfrm>
          <a:prstGeom prst="roundRect">
            <a:avLst>
              <a:gd name="adj" fmla="val 6956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26000" y="1602000"/>
            <a:ext cx="378000" cy="378000"/>
          </a:xfrm>
          <a:prstGeom prst="ellipse">
            <a:avLst/>
          </a:prstGeom>
          <a:solidFill>
            <a:srgbClr val="0D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atel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6720" y="1692720"/>
            <a:ext cx="196560" cy="1965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126000" y="2088000"/>
            <a:ext cx="2376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5E4AE3"/>
                </a:solidFill>
                <a:latin typeface="Plus Jakarta Sans"/>
              </a:rPr>
              <a:t>87%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6000" y="2646000"/>
            <a:ext cx="2376000" cy="827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0D0F14"/>
                </a:solidFill>
                <a:latin typeface="Plus Jakarta Sans"/>
              </a:rPr>
              <a:t>do tempo com GPS, tela apagada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F6375"/>
                </a:solidFill>
                <a:latin typeface="Plus Jakarta Sans"/>
              </a:rPr>
              <a:t>62% antes da D-23 · rede a cada ≤ 20 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6000" y="3636000"/>
            <a:ext cx="2671200" cy="2070000"/>
          </a:xfrm>
          <a:prstGeom prst="roundRect">
            <a:avLst>
              <a:gd name="adj" fmla="val 6956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6000" y="3816000"/>
            <a:ext cx="378000" cy="378000"/>
          </a:xfrm>
          <a:prstGeom prst="ellipse">
            <a:avLst/>
          </a:prstGeom>
          <a:solidFill>
            <a:srgbClr val="0D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bateri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20" y="3906720"/>
            <a:ext cx="196560" cy="1965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56000" y="4302000"/>
            <a:ext cx="2376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5E4AE3"/>
                </a:solidFill>
                <a:latin typeface="Plus Jakarta Sans"/>
              </a:rPr>
              <a:t>5,0 %/h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6000" y="4860000"/>
            <a:ext cx="2376000" cy="827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0D0F14"/>
                </a:solidFill>
                <a:latin typeface="Plus Jakarta Sans"/>
              </a:rPr>
              <a:t>de bateria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F6375"/>
                </a:solidFill>
                <a:latin typeface="Plus Jakarta Sans"/>
              </a:rPr>
              <a:t>no mesmo trecho bloqueado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66000" y="3636000"/>
            <a:ext cx="2671200" cy="2070000"/>
          </a:xfrm>
          <a:prstGeom prst="roundRect">
            <a:avLst>
              <a:gd name="adj" fmla="val 6956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46000" y="3816000"/>
            <a:ext cx="378000" cy="378000"/>
          </a:xfrm>
          <a:prstGeom prst="ellipse">
            <a:avLst/>
          </a:prstGeom>
          <a:solidFill>
            <a:srgbClr val="0D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regu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6720" y="3906720"/>
            <a:ext cx="196560" cy="19656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546000" y="4302000"/>
            <a:ext cx="2376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5E4AE3"/>
                </a:solidFill>
                <a:latin typeface="Plus Jakarta Sans"/>
              </a:rPr>
              <a:t>0,56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46000" y="4860000"/>
            <a:ext cx="2376000" cy="827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0D0F14"/>
                </a:solidFill>
                <a:latin typeface="Plus Jakarta Sans"/>
              </a:rPr>
              <a:t>razão de otimismo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F6375"/>
                </a:solidFill>
                <a:latin typeface="Plus Jakarta Sans"/>
              </a:rPr>
              <a:t>parado · 99% dos fixos retidos: não mede o ruído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56000" y="3636000"/>
            <a:ext cx="2671200" cy="2070000"/>
          </a:xfrm>
          <a:prstGeom prst="roundRect">
            <a:avLst>
              <a:gd name="adj" fmla="val 6956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36000" y="3816000"/>
            <a:ext cx="378000" cy="378000"/>
          </a:xfrm>
          <a:prstGeom prst="ellipse">
            <a:avLst/>
          </a:prstGeom>
          <a:solidFill>
            <a:srgbClr val="0D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formul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6720" y="3906720"/>
            <a:ext cx="196560" cy="19656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336000" y="4302000"/>
            <a:ext cx="2376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5E4AE3"/>
                </a:solidFill>
                <a:latin typeface="Plus Jakarta Sans"/>
              </a:rPr>
              <a:t>0,24 m → 2·10⁻¹⁵ 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6000" y="4860000"/>
            <a:ext cx="2376000" cy="827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0D0F14"/>
                </a:solidFill>
                <a:latin typeface="Plus Jakarta Sans"/>
              </a:rPr>
              <a:t>resíduo RMS médio, antes → depois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F6375"/>
                </a:solidFill>
                <a:latin typeface="Plus Jakarta Sans"/>
              </a:rPr>
              <a:t>85 janelas reais da caminhada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46000" y="3636000"/>
            <a:ext cx="2671200" cy="2070000"/>
          </a:xfrm>
          <a:prstGeom prst="roundRect">
            <a:avLst>
              <a:gd name="adj" fmla="val 6956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126000" y="3816000"/>
            <a:ext cx="378000" cy="378000"/>
          </a:xfrm>
          <a:prstGeom prst="ellipse">
            <a:avLst/>
          </a:prstGeom>
          <a:solidFill>
            <a:srgbClr val="0D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alv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16720" y="3906720"/>
            <a:ext cx="196560" cy="19656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126000" y="4302000"/>
            <a:ext cx="2376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5E4AE3"/>
                </a:solidFill>
                <a:latin typeface="Plus Jakarta Sans"/>
              </a:rPr>
              <a:t>5 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26000" y="4860000"/>
            <a:ext cx="2376000" cy="827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0D0F14"/>
                </a:solidFill>
                <a:latin typeface="Plus Jakarta Sans"/>
              </a:rPr>
              <a:t>menor salto detectável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F6375"/>
                </a:solidFill>
                <a:latin typeface="Plus Jakarta Sans"/>
              </a:rPr>
              <a:t>≥ 90% de detecção · semente 20261020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6000" y="5886000"/>
            <a:ext cx="110412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5F6375"/>
                </a:solidFill>
                <a:latin typeface="Plus Jakarta Sans"/>
              </a:rPr>
              <a:t>Samsung SM-S926B · coletas de 22/10/2026 no campus da UFLA (sessão bloqueada de 21h12 fora do campus, coordenadas deslocadas) · scripts\av1_evidencias.ps1 · docs/evidencias/resultados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6000" y="342000"/>
            <a:ext cx="1188000" cy="259200"/>
          </a:xfrm>
          <a:prstGeom prst="roundRect">
            <a:avLst>
              <a:gd name="adj" fmla="val 50000"/>
            </a:avLst>
          </a:prstGeom>
          <a:solidFill>
            <a:srgbClr val="5E4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00" y="342000"/>
            <a:ext cx="118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Plus Jakarta Sans"/>
              </a:rPr>
              <a:t>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684000"/>
            <a:ext cx="110160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Plus Jakarta Sans"/>
              </a:rPr>
              <a:t>Limitações e próximo passo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6462000"/>
            <a:ext cx="86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ADBD"/>
                </a:solidFill>
                <a:latin typeface="Plus Jakarta Sans"/>
              </a:rPr>
              <a:t>Rastro · Apresentação I · Resultados · Andre Bueno Ocanha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2000" y="6462000"/>
            <a:ext cx="1465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9ADBD"/>
                </a:solidFill>
                <a:latin typeface="Plus Jakarta Sans"/>
              </a:rPr>
              <a:t>11/11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00" y="1404000"/>
            <a:ext cx="5425200" cy="4716000"/>
          </a:xfrm>
          <a:prstGeom prst="roundRect">
            <a:avLst>
              <a:gd name="adj" fmla="val 3053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92000" y="1620000"/>
            <a:ext cx="432000" cy="432000"/>
          </a:xfrm>
          <a:prstGeom prst="ellipse">
            <a:avLst/>
          </a:prstGeom>
          <a:solidFill>
            <a:srgbClr val="E0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ergun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680" y="1723680"/>
            <a:ext cx="224640" cy="2246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32000" y="1620000"/>
            <a:ext cx="450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Plus Jakarta Sans"/>
              </a:rPr>
              <a:t>O que ainda não sabemos</a:t>
            </a:r>
          </a:p>
        </p:txBody>
      </p:sp>
      <p:sp>
        <p:nvSpPr>
          <p:cNvPr id="11" name="Oval 10"/>
          <p:cNvSpPr/>
          <p:nvPr/>
        </p:nvSpPr>
        <p:spPr>
          <a:xfrm>
            <a:off x="846000" y="2365200"/>
            <a:ext cx="115200" cy="115200"/>
          </a:xfrm>
          <a:prstGeom prst="ellipse">
            <a:avLst/>
          </a:prstGeom>
          <a:solidFill>
            <a:srgbClr val="E0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8000" y="2286000"/>
            <a:ext cx="4716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E4E6EE"/>
                </a:solidFill>
                <a:latin typeface="Plus Jakarta Sans"/>
              </a:rPr>
              <a:t>Sem verdade de campo: a referência é a janela limpa reconciliada.</a:t>
            </a:r>
          </a:p>
        </p:txBody>
      </p:sp>
      <p:sp>
        <p:nvSpPr>
          <p:cNvPr id="13" name="Oval 12"/>
          <p:cNvSpPr/>
          <p:nvPr/>
        </p:nvSpPr>
        <p:spPr>
          <a:xfrm>
            <a:off x="846000" y="3121200"/>
            <a:ext cx="115200" cy="115200"/>
          </a:xfrm>
          <a:prstGeom prst="ellipse">
            <a:avLst/>
          </a:prstGeom>
          <a:solidFill>
            <a:srgbClr val="E0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8000" y="3041999"/>
            <a:ext cx="4716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E4E6EE"/>
                </a:solidFill>
                <a:latin typeface="Plus Jakarta Sans"/>
              </a:rPr>
              <a:t>O erro do GNSS é correlacionado no tempo: γ não é exatamente χ².</a:t>
            </a:r>
          </a:p>
        </p:txBody>
      </p:sp>
      <p:sp>
        <p:nvSpPr>
          <p:cNvPr id="15" name="Oval 14"/>
          <p:cNvSpPr/>
          <p:nvPr/>
        </p:nvSpPr>
        <p:spPr>
          <a:xfrm>
            <a:off x="846000" y="3877200"/>
            <a:ext cx="115200" cy="115200"/>
          </a:xfrm>
          <a:prstGeom prst="ellipse">
            <a:avLst/>
          </a:prstGeom>
          <a:solidFill>
            <a:srgbClr val="E0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8000" y="3798000"/>
            <a:ext cx="4716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E4E6EE"/>
                </a:solidFill>
                <a:latin typeface="Plus Jakarta Sans"/>
              </a:rPr>
              <a:t>Com a tela apagada, GPS em 87% do tempo e uma pausa de 4,5 min sem causa conhecida.</a:t>
            </a:r>
          </a:p>
        </p:txBody>
      </p:sp>
      <p:sp>
        <p:nvSpPr>
          <p:cNvPr id="17" name="Oval 16"/>
          <p:cNvSpPr/>
          <p:nvPr/>
        </p:nvSpPr>
        <p:spPr>
          <a:xfrm>
            <a:off x="846000" y="4633200"/>
            <a:ext cx="115200" cy="115200"/>
          </a:xfrm>
          <a:prstGeom prst="ellipse">
            <a:avLst/>
          </a:prstGeom>
          <a:solidFill>
            <a:srgbClr val="E0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8000" y="4554000"/>
            <a:ext cx="4716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E4E6EE"/>
                </a:solidFill>
                <a:latin typeface="Plus Jakarta Sans"/>
              </a:rPr>
              <a:t>Parado, o receptor retém a posição: o ensaio estático não mede o ruído.</a:t>
            </a:r>
          </a:p>
        </p:txBody>
      </p:sp>
      <p:sp>
        <p:nvSpPr>
          <p:cNvPr id="19" name="Oval 18"/>
          <p:cNvSpPr/>
          <p:nvPr/>
        </p:nvSpPr>
        <p:spPr>
          <a:xfrm>
            <a:off x="846000" y="5389200"/>
            <a:ext cx="115200" cy="115200"/>
          </a:xfrm>
          <a:prstGeom prst="ellipse">
            <a:avLst/>
          </a:prstGeom>
          <a:solidFill>
            <a:srgbClr val="E0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8000" y="5310000"/>
            <a:ext cx="4716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E4E6EE"/>
                </a:solidFill>
                <a:latin typeface="Plus Jakarta Sans"/>
              </a:rPr>
              <a:t>O registro fica em claro até a cifragem da AV2.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2000" y="1404000"/>
            <a:ext cx="5425200" cy="4716000"/>
          </a:xfrm>
          <a:prstGeom prst="roundRect">
            <a:avLst>
              <a:gd name="adj" fmla="val 3053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8000" y="1620000"/>
            <a:ext cx="432000" cy="432000"/>
          </a:xfrm>
          <a:prstGeom prst="ellipse">
            <a:avLst/>
          </a:prstGeom>
          <a:solidFill>
            <a:srgbClr val="5E4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fogue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680" y="1723680"/>
            <a:ext cx="224640" cy="2246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948000" y="1620000"/>
            <a:ext cx="450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Plus Jakarta Sans"/>
              </a:rPr>
              <a:t>AV2</a:t>
            </a:r>
          </a:p>
        </p:txBody>
      </p:sp>
      <p:sp>
        <p:nvSpPr>
          <p:cNvPr id="25" name="Oval 24"/>
          <p:cNvSpPr/>
          <p:nvPr/>
        </p:nvSpPr>
        <p:spPr>
          <a:xfrm>
            <a:off x="6462000" y="2365200"/>
            <a:ext cx="115200" cy="115200"/>
          </a:xfrm>
          <a:prstGeom prst="ellipse">
            <a:avLst/>
          </a:prstGeom>
          <a:solidFill>
            <a:srgbClr val="5E4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13999" y="2286000"/>
            <a:ext cx="4716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E4E6EE"/>
                </a:solidFill>
                <a:latin typeface="Plus Jakarta Sans"/>
              </a:rPr>
              <a:t>Pedir a localização em segundo plano no app; consumidor IMU com taxa fixa (D-22).</a:t>
            </a:r>
          </a:p>
        </p:txBody>
      </p:sp>
      <p:sp>
        <p:nvSpPr>
          <p:cNvPr id="27" name="Oval 26"/>
          <p:cNvSpPr/>
          <p:nvPr/>
        </p:nvSpPr>
        <p:spPr>
          <a:xfrm>
            <a:off x="6462000" y="3121200"/>
            <a:ext cx="115200" cy="115200"/>
          </a:xfrm>
          <a:prstGeom prst="ellipse">
            <a:avLst/>
          </a:prstGeom>
          <a:solidFill>
            <a:srgbClr val="5E4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13999" y="3041999"/>
            <a:ext cx="4716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E4E6EE"/>
                </a:solidFill>
                <a:latin typeface="Plus Jakarta Sans"/>
              </a:rPr>
              <a:t>Cᵢ medido e escalonabilidade das quatro tarefas periódicas.</a:t>
            </a:r>
          </a:p>
        </p:txBody>
      </p:sp>
      <p:sp>
        <p:nvSpPr>
          <p:cNvPr id="29" name="Oval 28"/>
          <p:cNvSpPr/>
          <p:nvPr/>
        </p:nvSpPr>
        <p:spPr>
          <a:xfrm>
            <a:off x="6462000" y="3877200"/>
            <a:ext cx="115200" cy="115200"/>
          </a:xfrm>
          <a:prstGeom prst="ellipse">
            <a:avLst/>
          </a:prstGeom>
          <a:solidFill>
            <a:srgbClr val="5E4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13999" y="3798000"/>
            <a:ext cx="4716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E4E6EE"/>
                </a:solidFill>
                <a:latin typeface="Plus Jakarta Sans"/>
              </a:rPr>
              <a:t>Aprendizado online dos encontros de rede.</a:t>
            </a:r>
          </a:p>
        </p:txBody>
      </p:sp>
      <p:sp>
        <p:nvSpPr>
          <p:cNvPr id="31" name="Oval 30"/>
          <p:cNvSpPr/>
          <p:nvPr/>
        </p:nvSpPr>
        <p:spPr>
          <a:xfrm>
            <a:off x="6462000" y="4633200"/>
            <a:ext cx="115200" cy="115200"/>
          </a:xfrm>
          <a:prstGeom prst="ellipse">
            <a:avLst/>
          </a:prstGeom>
          <a:solidFill>
            <a:srgbClr val="5E4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13999" y="4554000"/>
            <a:ext cx="4716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E4E6EE"/>
                </a:solidFill>
                <a:latin typeface="Plus Jakarta Sans"/>
              </a:rPr>
              <a:t>Agente com RuleEngine e modelo removível.</a:t>
            </a:r>
          </a:p>
        </p:txBody>
      </p:sp>
      <p:sp>
        <p:nvSpPr>
          <p:cNvPr id="33" name="Oval 32"/>
          <p:cNvSpPr/>
          <p:nvPr/>
        </p:nvSpPr>
        <p:spPr>
          <a:xfrm>
            <a:off x="6462000" y="5389200"/>
            <a:ext cx="115200" cy="115200"/>
          </a:xfrm>
          <a:prstGeom prst="ellipse">
            <a:avLst/>
          </a:prstGeom>
          <a:solidFill>
            <a:srgbClr val="5E4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13999" y="5310000"/>
            <a:ext cx="4716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E4E6EE"/>
                </a:solidFill>
                <a:latin typeface="Plus Jakarta Sans"/>
              </a:rPr>
              <a:t>AES-GCM com chave no Keystore e frota com deriva de relógio.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
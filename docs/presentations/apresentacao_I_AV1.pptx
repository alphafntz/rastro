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astro-simbolo-branco-1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000" y="540000"/>
            <a:ext cx="1080000" cy="108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0000" y="2232000"/>
            <a:ext cx="10800000" cy="936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Plus Jakarta Sans"/>
              </a:rPr>
              <a:t>Rastro — sente, corrige e detecta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3204000"/>
            <a:ext cx="10800000" cy="503999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E9E6FF"/>
                </a:solidFill>
                <a:latin typeface="Plus Jakarta Sans"/>
              </a:rPr>
              <a:t>Apresentação I · AV1 · GAT108 Automação Avançada · UFLA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4536000"/>
            <a:ext cx="10800000" cy="1080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FFFFFF"/>
                </a:solidFill>
                <a:latin typeface="Plus Jakarta Sans"/>
              </a:rPr>
              <a:t>Juliano Cesar Ferreira Ramos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FFFFFF"/>
                </a:solidFill>
                <a:latin typeface="Plus Jakarta Sans"/>
              </a:rPr>
              <a:t>Andre Bueno Ocanha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FFFFFF"/>
                </a:solidFill>
                <a:latin typeface="Plus Jakarta Sans"/>
              </a:rPr>
              <a:t>João Paulo Silva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25999"/>
          </a:xfrm>
          <a:prstGeom prst="rect">
            <a:avLst/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288000"/>
            <a:ext cx="9000000" cy="576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D0F14"/>
                </a:solidFill>
                <a:latin typeface="Plus Jakarta Sans"/>
              </a:rPr>
              <a:t>O que a camada 1 mede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6336000"/>
            <a:ext cx="7200000" cy="288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Fundamentação · ⟪quem apresenta⟫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80000" y="6336000"/>
            <a:ext cx="936000" cy="288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2/11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1080000"/>
            <a:ext cx="5400000" cy="4320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0D0F14"/>
                </a:solidFill>
                <a:latin typeface="Plus Jakarta Sans"/>
              </a:rPr>
              <a:t>Domínio: </a:t>
            </a:r>
            <a:r>
              <a:rPr sz="1900" b="0">
                <a:solidFill>
                  <a:srgbClr val="0D0F14"/>
                </a:solidFill>
                <a:latin typeface="Plus Jakarta Sans"/>
              </a:rPr>
              <a:t>rede mesh entre Androids em áreas sem cobertura. Para a AV1, o nó precisa </a:t>
            </a:r>
            <a:r>
              <a:rPr sz="1900" b="1">
                <a:solidFill>
                  <a:srgbClr val="0D0F14"/>
                </a:solidFill>
                <a:latin typeface="Plus Jakarta Sans"/>
              </a:rPr>
              <a:t>sentir, corrigir e detectar</a:t>
            </a:r>
            <a:r>
              <a:rPr sz="1900" b="0">
                <a:solidFill>
                  <a:srgbClr val="0D0F14"/>
                </a:solidFill>
                <a:latin typeface="Plus Jakarta Sans"/>
              </a:rPr>
              <a:t> sem enviar nada para fora.</a:t>
            </a:r>
          </a:p>
          <a:p>
            <a:pPr algn="l">
              <a:spcAft>
                <a:spcPts val="400"/>
              </a:spcAft>
            </a:pPr>
            <a:r>
              <a:rPr sz="1900" b="0">
                <a:solidFill>
                  <a:srgbClr val="0D0F14"/>
                </a:solidFill>
                <a:latin typeface="Plus Jakarta Sans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900" b="1">
                <a:solidFill>
                  <a:srgbClr val="0D0F14"/>
                </a:solidFill>
                <a:latin typeface="Plus Jakarta Sans"/>
              </a:rPr>
              <a:t>Fixo GNSS a cada 1 s: </a:t>
            </a:r>
            <a:r>
              <a:rPr sz="1900" b="0">
                <a:solidFill>
                  <a:srgbClr val="0D0F14"/>
                </a:solidFill>
                <a:latin typeface="Plus Jakarta Sans"/>
              </a:rPr>
              <a:t>posição, velocidade (Doppler) e rumo, cada um com a acurácia de 68% que o receptor informa.</a:t>
            </a:r>
          </a:p>
          <a:p>
            <a:pPr algn="l">
              <a:spcAft>
                <a:spcPts val="400"/>
              </a:spcAft>
            </a:pPr>
            <a:r>
              <a:rPr sz="1900" b="1">
                <a:solidFill>
                  <a:srgbClr val="0D0F14"/>
                </a:solidFill>
                <a:latin typeface="Plus Jakarta Sans"/>
              </a:rPr>
              <a:t>Acelerômetro a 50 Hz: </a:t>
            </a:r>
            <a:r>
              <a:rPr sz="1900" b="0">
                <a:solidFill>
                  <a:srgbClr val="0D0F14"/>
                </a:solidFill>
                <a:latin typeface="Plus Jakarta Sans"/>
              </a:rPr>
              <a:t>aquisição contínua em serviço de primeiro plano.</a:t>
            </a:r>
          </a:p>
          <a:p>
            <a:pPr algn="l">
              <a:spcAft>
                <a:spcPts val="400"/>
              </a:spcAft>
            </a:pPr>
            <a:r>
              <a:rPr sz="1900" b="1">
                <a:solidFill>
                  <a:srgbClr val="0D0F14"/>
                </a:solidFill>
                <a:latin typeface="Plus Jakarta Sans"/>
              </a:rPr>
              <a:t>Fonte da incerteza: </a:t>
            </a:r>
            <a:r>
              <a:rPr sz="1900" b="0">
                <a:solidFill>
                  <a:srgbClr val="0D0F14"/>
                </a:solidFill>
                <a:latin typeface="Plus Jakarta Sans"/>
              </a:rPr>
              <a:t>multipercurso, geometria dos satélites, céu obstruído.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0000" y="1080000"/>
            <a:ext cx="5400000" cy="4320000"/>
          </a:xfrm>
          <a:prstGeom prst="roundRect">
            <a:avLst>
              <a:gd name="adj" fmla="val 6000"/>
            </a:avLst>
          </a:prstGeom>
          <a:solidFill>
            <a:srgbClr val="F4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90000" rIns="90000" tIns="54000" bIns="54000"/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D0F14"/>
                </a:solidFill>
                <a:latin typeface="Plus Jakarta Sans"/>
              </a:rPr>
              <a:t>Fixo (RegistroFix)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D0F14"/>
                </a:solidFill>
                <a:latin typeface="Plus Jakarta Sans"/>
              </a:rPr>
              <a:t>tempo monotônico (ns) · UTC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D0F14"/>
                </a:solidFill>
                <a:latin typeface="Plus Jakarta Sans"/>
              </a:rPr>
              <a:t>latitude, longitude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D0F14"/>
                </a:solidFill>
                <a:latin typeface="Plus Jakarta Sans"/>
              </a:rPr>
              <a:t>r68 horizontal (m)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D0F14"/>
                </a:solidFill>
                <a:latin typeface="Plus Jakarta Sans"/>
              </a:rPr>
              <a:t>velocidade s (m/s) ± σs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D0F14"/>
                </a:solidFill>
                <a:latin typeface="Plus Jakarta Sans"/>
              </a:rPr>
              <a:t>rumo θ (°) ± σθ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D0F14"/>
                </a:solidFill>
                <a:latin typeface="Plus Jakarta Sans"/>
              </a:rPr>
              <a:t>provedor (gps / network)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D0F14"/>
                </a:solidFill>
                <a:latin typeface="Plus Jakarta Sans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0D0F14"/>
                </a:solidFill>
                <a:latin typeface="Plus Jakarta Sans"/>
              </a:rPr>
              <a:t>Campo ausente fica vazio: nenhuma incerteza é inventada.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25999"/>
          </a:xfrm>
          <a:prstGeom prst="rect">
            <a:avLst/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288000"/>
            <a:ext cx="9000000" cy="576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D0F14"/>
                </a:solidFill>
                <a:latin typeface="Plus Jakarta Sans"/>
              </a:rPr>
              <a:t>Estruturas de capacidade fixa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6336000"/>
            <a:ext cx="7200000" cy="288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Fundamentação · ⟪quem apresenta⟫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80000" y="6336000"/>
            <a:ext cx="936000" cy="288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3/11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1080000"/>
            <a:ext cx="11160000" cy="2160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>
                <a:solidFill>
                  <a:srgbClr val="0D0F14"/>
                </a:solidFill>
                <a:latin typeface="Plus Jakarta Sans"/>
              </a:rPr>
              <a:t>Trajeto</a:t>
            </a:r>
            <a:r>
              <a:rPr sz="2100" b="0">
                <a:solidFill>
                  <a:srgbClr val="0D0F14"/>
                </a:solidFill>
                <a:latin typeface="Plus Jakarta Sans"/>
              </a:rPr>
              <a:t> (imutável): tamanho O(1) · média e recorte temporal O(n), n ≤ capacidade · inserção copia a janela O(n)</a:t>
            </a:r>
          </a:p>
          <a:p>
            <a:pPr algn="l">
              <a:spcAft>
                <a:spcPts val="400"/>
              </a:spcAft>
            </a:pPr>
            <a:r>
              <a:rPr sz="2100" b="1">
                <a:solidFill>
                  <a:srgbClr val="0D0F14"/>
                </a:solidFill>
                <a:latin typeface="Plus Jakarta Sans"/>
              </a:rPr>
              <a:t>CircularImuBuffer</a:t>
            </a:r>
            <a:r>
              <a:rPr sz="2100" b="0">
                <a:solidFill>
                  <a:srgbClr val="0D0F14"/>
                </a:solidFill>
                <a:latin typeface="Plus Jakarta Sans"/>
              </a:rPr>
              <a:t> (anel de 500 ≈ 10 s): inserção O(1) · descarta o mais antigo e conta · snapshot/drenar O(n) devolvem CÓPIA</a:t>
            </a:r>
          </a:p>
          <a:p>
            <a:pPr algn="l">
              <a:spcAft>
                <a:spcPts val="400"/>
              </a:spcAft>
            </a:pPr>
            <a:r>
              <a:rPr sz="2100" b="0">
                <a:solidFill>
                  <a:srgbClr val="0D0F14"/>
                </a:solidFill>
                <a:latin typeface="Plus Jakarta Sans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100" b="1">
                <a:solidFill>
                  <a:srgbClr val="0D0F14"/>
                </a:solidFill>
                <a:latin typeface="Plus Jakarta Sans"/>
              </a:rPr>
              <a:t>Por que capacidade fixa? </a:t>
            </a:r>
            <a:r>
              <a:rPr sz="2100" b="0">
                <a:solidFill>
                  <a:srgbClr val="0D0F14"/>
                </a:solidFill>
                <a:latin typeface="Plus Jakarta Sans"/>
              </a:rPr>
              <a:t>o nó roda por tempo ilimitado; memória constante não depende do tempo de operação.</a:t>
            </a:r>
          </a:p>
          <a:p>
            <a:pPr algn="l">
              <a:spcAft>
                <a:spcPts val="400"/>
              </a:spcAft>
            </a:pPr>
            <a:r>
              <a:rPr sz="2100" b="1">
                <a:solidFill>
                  <a:srgbClr val="0D0F14"/>
                </a:solidFill>
                <a:latin typeface="Plus Jakarta Sans"/>
              </a:rPr>
              <a:t>Por que cópia? </a:t>
            </a:r>
            <a:r>
              <a:rPr sz="2100" b="0">
                <a:solidFill>
                  <a:srgbClr val="0D0F14"/>
                </a:solidFill>
                <a:latin typeface="Plus Jakarta Sans"/>
              </a:rPr>
              <a:t>sem ela o consumidor itera o vetor que o produtor sobrescreve → leitura fora de ordem intermitente.</a:t>
            </a:r>
          </a:p>
          <a:p>
            <a:pPr algn="l">
              <a:spcAft>
                <a:spcPts val="400"/>
              </a:spcAft>
            </a:pPr>
            <a:r>
              <a:rPr sz="2100" b="1">
                <a:solidFill>
                  <a:srgbClr val="0D0F14"/>
                </a:solidFill>
                <a:latin typeface="Plus Jakarta Sans"/>
              </a:rPr>
              <a:t>O que poderia ser melhor: </a:t>
            </a:r>
            <a:r>
              <a:rPr sz="2100" b="0">
                <a:solidFill>
                  <a:srgbClr val="0D0F14"/>
                </a:solidFill>
                <a:latin typeface="Plus Jakarta Sans"/>
              </a:rPr>
              <a:t>a inserção do Trajeto (O(n)); um anel mutável protegido a deixa O(1).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25999"/>
          </a:xfrm>
          <a:prstGeom prst="rect">
            <a:avLst/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288000"/>
            <a:ext cx="9000000" cy="576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D0F14"/>
                </a:solidFill>
                <a:latin typeface="Plus Jakarta Sans"/>
              </a:rPr>
              <a:t>Incerteza vem do sensor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6336000"/>
            <a:ext cx="7200000" cy="288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Fundamentação · ⟪quem apresenta⟫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80000" y="6336000"/>
            <a:ext cx="936000" cy="288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4/11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1080000"/>
            <a:ext cx="5760000" cy="4680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D0F14"/>
                </a:solidFill>
                <a:latin typeface="Plus Jakarta Sans"/>
              </a:rPr>
              <a:t>Posição: </a:t>
            </a:r>
            <a:r>
              <a:rPr sz="1800" b="0">
                <a:solidFill>
                  <a:srgbClr val="0D0F14"/>
                </a:solidFill>
                <a:latin typeface="Plus Jakarta Sans"/>
              </a:rPr>
              <a:t>o Android dá um raio r68 (68%), não σ.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D0F14"/>
                </a:solidFill>
                <a:latin typeface="Plus Jakarta Sans"/>
              </a:rPr>
              <a:t>P(|e| ≤ r68) = 1 − exp(−r68²/2σ²) = 0,68</a:t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0D0F14"/>
                </a:solidFill>
                <a:latin typeface="Plus Jakarta Sans"/>
              </a:rPr>
              <a:t>σ² = r68² / (−2 ln 0,32) ≈ r68² / 2,279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D0F14"/>
                </a:solidFill>
                <a:latin typeface="Plus Jakarta Sans"/>
              </a:rPr>
              <a:t>σ² = variância por eixo (m²); r68 = raio informado (m)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D0F14"/>
                </a:solidFill>
                <a:latin typeface="Plus Jakarta Sans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0D0F14"/>
                </a:solidFill>
                <a:latin typeface="Plus Jakarta Sans"/>
              </a:rPr>
              <a:t>Velocidade: </a:t>
            </a:r>
            <a:r>
              <a:rPr sz="1800" b="0">
                <a:solidFill>
                  <a:srgbClr val="0D0F14"/>
                </a:solidFill>
                <a:latin typeface="Plus Jakarta Sans"/>
              </a:rPr>
              <a:t>vE = s·sen θ, vN = s·cos θ;  Σv = J·diag(σs², σθ²)·Jᵀ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D0F14"/>
                </a:solidFill>
                <a:latin typeface="Plus Jakarta Sans"/>
              </a:rPr>
              <a:t>J = jacobiano de (vE, vN) em relação a (s, θ); σθ em rad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D0F14"/>
                </a:solidFill>
                <a:latin typeface="Plus Jakarta Sans"/>
              </a:rPr>
              <a:t>Parado (sem rumo): média 0, variância σs² + s²/2</a:t>
            </a:r>
          </a:p>
        </p:txBody>
      </p:sp>
      <p:pic>
        <p:nvPicPr>
          <p:cNvPr id="7" name="Picture 6" descr="dispersao_esta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0000" y="1007999"/>
            <a:ext cx="4536539" cy="4860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25999"/>
          </a:xfrm>
          <a:prstGeom prst="rect">
            <a:avLst/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288000"/>
            <a:ext cx="9000000" cy="576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D0F14"/>
                </a:solidFill>
                <a:latin typeface="Plus Jakarta Sans"/>
              </a:rPr>
              <a:t>Reconciliação sob a restrição cinemática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6336000"/>
            <a:ext cx="7200000" cy="288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Fundamentação · ⟪quem apresenta⟫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80000" y="6336000"/>
            <a:ext cx="936000" cy="288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5/11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1080000"/>
            <a:ext cx="11160000" cy="5040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D0F14"/>
                </a:solidFill>
                <a:latin typeface="Plus Jakarta Sans"/>
              </a:rPr>
              <a:t>pₐ(k+1) − pₐ(k) − ½(vₐ(k) + vₐ(k+1))·Δtₖ = 0</a:t>
            </a:r>
            <a:r>
              <a:rPr sz="2000" b="0">
                <a:solidFill>
                  <a:srgbClr val="0D0F14"/>
                </a:solidFill>
                <a:latin typeface="Plus Jakarta Sans"/>
              </a:rPr>
              <a:t>    a ∈ {leste, norte}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0D0F14"/>
                </a:solidFill>
                <a:latin typeface="Plus Jakarta Sans"/>
              </a:rPr>
              <a:t>p = posição medida (m) · v = componente da velocidade (m/s) · Δt = intervalo entre fixos (s, relógio monotônico)</a:t>
            </a:r>
          </a:p>
          <a:p>
            <a:pPr algn="l">
              <a:spcAft>
                <a:spcPts val="400"/>
              </a:spcAft>
            </a:pPr>
            <a:r>
              <a:rPr sz="2000" b="1">
                <a:solidFill>
                  <a:srgbClr val="0D0F14"/>
                </a:solidFill>
                <a:latin typeface="Plus Jakarta Sans"/>
              </a:rPr>
              <a:t>Linear nas medidas (Δt é conhecido): </a:t>
            </a:r>
            <a:r>
              <a:rPr sz="2000" b="0">
                <a:solidFill>
                  <a:srgbClr val="0D0F14"/>
                </a:solidFill>
                <a:latin typeface="Plus Jakarta Sans"/>
              </a:rPr>
              <a:t>A·y = 0, A com 2(N−1) linhas e 4N colunas, N = 10 fixos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0D0F14"/>
                </a:solidFill>
                <a:latin typeface="Plus Jakarta Sans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000" b="1">
                <a:solidFill>
                  <a:srgbClr val="0D0F14"/>
                </a:solidFill>
                <a:latin typeface="Plus Jakarta Sans"/>
              </a:rPr>
              <a:t>ŷ = y − Σ·Aᵀ·(A·Σ·Aᵀ)⁻¹·A·y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0D0F14"/>
                </a:solidFill>
                <a:latin typeface="Plus Jakarta Sans"/>
              </a:rPr>
              <a:t>y = medidas · ŷ = reconciliadas · Σ = covariância do sensor · r = A·y = resíduo antes</a:t>
            </a:r>
          </a:p>
          <a:p>
            <a:pPr algn="l">
              <a:spcAft>
                <a:spcPts val="400"/>
              </a:spcAft>
            </a:pPr>
            <a:r>
              <a:rPr sz="2000" b="1">
                <a:solidFill>
                  <a:srgbClr val="0D0F14"/>
                </a:solidFill>
                <a:latin typeface="Plus Jakarta Sans"/>
              </a:rPr>
              <a:t>A correção é proporcional a Σ: a medida mais incerta é a que mais se move.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0D0F14"/>
                </a:solidFill>
                <a:latin typeface="Plus Jakarta Sans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000" b="1">
                <a:solidFill>
                  <a:srgbClr val="0D0F14"/>
                </a:solidFill>
                <a:latin typeface="Plus Jakarta Sans"/>
              </a:rPr>
              <a:t>Descartadas: </a:t>
            </a:r>
            <a:r>
              <a:rPr sz="2000" b="0">
                <a:solidFill>
                  <a:srgbClr val="0D0F14"/>
                </a:solidFill>
                <a:latin typeface="Plus Jakarta Sans"/>
              </a:rPr>
              <a:t>mínimos quadrados sem peso (puxa igual a medida boa) · Kalman (exige Q arbitrado) · |Δp| = s·Δt (não linear, perde a direção)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25999"/>
          </a:xfrm>
          <a:prstGeom prst="rect">
            <a:avLst/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288000"/>
            <a:ext cx="9000000" cy="576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D0F14"/>
                </a:solidFill>
                <a:latin typeface="Plus Jakarta Sans"/>
              </a:rPr>
              <a:t>Erro grosseiro: critério quantitativo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6336000"/>
            <a:ext cx="7200000" cy="288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Fundamentação · ⟪quem apresenta⟫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80000" y="6336000"/>
            <a:ext cx="936000" cy="288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6/11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1080000"/>
            <a:ext cx="6840000" cy="5040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D0F14"/>
                </a:solidFill>
                <a:latin typeface="Plus Jakarta Sans"/>
              </a:rPr>
              <a:t>zⱼ = |aⱼ| / √Wⱼⱼ</a:t>
            </a:r>
            <a:r>
              <a:rPr sz="1800" b="0">
                <a:solidFill>
                  <a:srgbClr val="0D0F14"/>
                </a:solidFill>
                <a:latin typeface="Plus Jakarta Sans"/>
              </a:rPr>
              <a:t>   a = y − ŷ (ajuste) · W = Σ·Aᵀ·V⁻¹·A·Σ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D0F14"/>
                </a:solidFill>
                <a:latin typeface="Plus Jakarta Sans"/>
              </a:rPr>
              <a:t>Sem erro grosseiro, zⱼ ~ N(0,1).</a:t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0D0F14"/>
                </a:solidFill>
                <a:latin typeface="Plus Jakarta Sans"/>
              </a:rPr>
              <a:t>Corte de Šidák: </a:t>
            </a:r>
            <a:r>
              <a:rPr sz="1800" b="0">
                <a:solidFill>
                  <a:srgbClr val="0D0F14"/>
                </a:solidFill>
                <a:latin typeface="Plus Jakarta Sans"/>
              </a:rPr>
              <a:t>40 medidas por janela; 1,96 em cada daria ~87% de falso alarme.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D0F14"/>
                </a:solidFill>
                <a:latin typeface="Plus Jakarta Sans"/>
              </a:rPr>
              <a:t>β = 1 − (1 − α)^(1/n), z_crítico = Φ⁻¹(1 − β/2) ≈ 3,2  (α = 5%, n = 40)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D0F14"/>
                </a:solidFill>
                <a:latin typeface="Plus Jakarta Sans"/>
              </a:rPr>
              <a:t>Passou do corte → retira o fixo, reconcilia de novo (até 3).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D0F14"/>
                </a:solidFill>
                <a:latin typeface="Plus Jakarta Sans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0D0F14"/>
                </a:solidFill>
                <a:latin typeface="Plus Jakarta Sans"/>
              </a:rPr>
              <a:t>Limite: </a:t>
            </a:r>
            <a:r>
              <a:rPr sz="1800" b="0">
                <a:solidFill>
                  <a:srgbClr val="0D0F14"/>
                </a:solidFill>
                <a:latin typeface="Plus Jakarta Sans"/>
              </a:rPr>
              <a:t>nas pontas da janela o erro é detectado, não localizado → janela deslizante.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32000" y="1080000"/>
            <a:ext cx="4176000" cy="3240000"/>
          </a:xfrm>
          <a:prstGeom prst="roundRect">
            <a:avLst>
              <a:gd name="adj" fmla="val 6000"/>
            </a:avLst>
          </a:prstGeom>
          <a:solidFill>
            <a:srgbClr val="F4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90000" rIns="90000" tIns="54000" bIns="54000"/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0D0F14"/>
                </a:solidFill>
                <a:latin typeface="Plus Jakarta Sans"/>
              </a:rPr>
              <a:t>Sem o detector, piora (4.7)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0D0F14"/>
                </a:solidFill>
                <a:latin typeface="Plus Jakarta Sans"/>
              </a:rPr>
              <a:t>Salto de 30 m no fixo central: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0D0F14"/>
                </a:solidFill>
                <a:latin typeface="Plus Jakarta Sans"/>
              </a:rPr>
              <a:t>vizinhos SEM detector: 2,94 m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0D0F14"/>
                </a:solidFill>
                <a:latin typeface="Plus Jakarta Sans"/>
              </a:rPr>
              <a:t>vizinhos COM detector: 0,07 m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0D0F14"/>
                </a:solidFill>
                <a:latin typeface="Plus Jakarta Sans"/>
              </a:rPr>
              <a:t>(distância RMS à reconciliação da janela limpa)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25999"/>
          </a:xfrm>
          <a:prstGeom prst="rect">
            <a:avLst/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288000"/>
            <a:ext cx="9000000" cy="576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D0F14"/>
                </a:solidFill>
                <a:latin typeface="Plus Jakarta Sans"/>
              </a:rPr>
              <a:t>Região crítica e aquisição periódica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6336000"/>
            <a:ext cx="7200000" cy="288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Fundamentação · ⟪quem apresenta⟫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80000" y="6336000"/>
            <a:ext cx="936000" cy="288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7/11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1080000"/>
            <a:ext cx="5940000" cy="5040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D0F14"/>
                </a:solidFill>
                <a:latin typeface="Plus Jakarta Sans"/>
              </a:rPr>
              <a:t>rastro-imu-50hz</a:t>
            </a:r>
            <a:r>
              <a:rPr sz="1800" b="0">
                <a:solidFill>
                  <a:srgbClr val="0D0F14"/>
                </a:solidFill>
                <a:latin typeface="Plus Jakarta Sans"/>
              </a:rPr>
              <a:t> produtor, 20 ms</a:t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0D0F14"/>
                </a:solidFill>
                <a:latin typeface="Plus Jakarta Sans"/>
              </a:rPr>
              <a:t>rastro-consumidor-imu</a:t>
            </a:r>
            <a:r>
              <a:rPr sz="1800" b="0">
                <a:solidFill>
                  <a:srgbClr val="0D0F14"/>
                </a:solidFill>
                <a:latin typeface="Plus Jakarta Sans"/>
              </a:rPr>
              <a:t> drena a cada 1 s</a:t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0D0F14"/>
                </a:solidFill>
                <a:latin typeface="Plus Jakarta Sans"/>
              </a:rPr>
              <a:t>rastro-registro-1hz</a:t>
            </a:r>
            <a:r>
              <a:rPr sz="1800" b="0">
                <a:solidFill>
                  <a:srgbClr val="0D0F14"/>
                </a:solidFill>
                <a:latin typeface="Plus Jakarta Sans"/>
              </a:rPr>
              <a:t> log de aquisição</a:t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0D0F14"/>
                </a:solidFill>
                <a:latin typeface="Plus Jakarta Sans"/>
              </a:rPr>
              <a:t>principal</a:t>
            </a:r>
            <a:r>
              <a:rPr sz="1800" b="0">
                <a:solidFill>
                  <a:srgbClr val="0D0F14"/>
                </a:solidFill>
                <a:latin typeface="Plus Jakarta Sans"/>
              </a:rPr>
              <a:t> fixo GNSS a cada 1 s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D0F14"/>
                </a:solidFill>
                <a:latin typeface="Plus Jakarta Sans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0D0F14"/>
                </a:solidFill>
                <a:latin typeface="Plus Jakarta Sans"/>
              </a:rPr>
              <a:t>Região crítica: </a:t>
            </a:r>
            <a:r>
              <a:rPr sz="1800" b="0">
                <a:solidFill>
                  <a:srgbClr val="0D0F14"/>
                </a:solidFill>
                <a:latin typeface="Plus Jakarta Sans"/>
              </a:rPr>
              <a:t>índices, slots e contadores do CircularImuBuffer mudam juntos → um monitor (synchronized).</a:t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0D0F14"/>
                </a:solidFill>
                <a:latin typeface="Plus Jakarta Sans"/>
              </a:rPr>
              <a:t>Descartados: </a:t>
            </a:r>
            <a:r>
              <a:rPr sz="1800" b="0">
                <a:solidFill>
                  <a:srgbClr val="0D0F14"/>
                </a:solidFill>
                <a:latin typeface="Plus Jakarta Sans"/>
              </a:rPr>
              <a:t>ConcurrentLinkedQueue (sem limite nem descarte atômico) · ReentrantLock (não precisamos de tryLock/condições).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60000" y="1080000"/>
            <a:ext cx="5148000" cy="4680000"/>
          </a:xfrm>
          <a:prstGeom prst="roundRect">
            <a:avLst>
              <a:gd name="adj" fmla="val 6000"/>
            </a:avLst>
          </a:prstGeom>
          <a:solidFill>
            <a:srgbClr val="F4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90000" rIns="90000" tIns="54000" bIns="54000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D0F14"/>
                </a:solidFill>
                <a:latin typeface="Plus Jakarta Sans"/>
              </a:rPr>
              <a:t>10 execuções do teste de corrida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0D0F14"/>
                </a:solidFill>
                <a:latin typeface="Plus Jakarta Sans"/>
              </a:rPr>
              <a:t>produtor + consumidor + observador, 10 000 leituras, buffer de 64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0D0F14"/>
                </a:solidFill>
                <a:latin typeface="Plus Jakarta Sans"/>
              </a:rPr>
              <a:t>Prova: nenhuma intercalação dessas execuções corrompeu o estado.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0D0F14"/>
                </a:solidFill>
                <a:latin typeface="Plus Jakarta Sans"/>
              </a:rPr>
              <a:t>Não prova: ausência de corrida — isso vem do código (todo acesso no monitor).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0D0F14"/>
                </a:solidFill>
                <a:latin typeface="Plus Jakarta Sans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0D0F14"/>
                </a:solidFill>
                <a:latin typeface="Plus Jakarta Sans"/>
              </a:rPr>
              <a:t>Serviço em primeiro plano + PARTIAL_WAKE_LOCK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0D0F14"/>
                </a:solidFill>
                <a:latin typeface="Plus Jakarta Sans"/>
              </a:rPr>
              <a:t>sem wake lock a CPU dorme e o acelerômetro (não-wakeup) para.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0D0F14"/>
                </a:solidFill>
                <a:latin typeface="Plus Jakarta Sans"/>
              </a:rPr>
              <a:t>Android = CFS, sem tempo real: período solicitado, Cᵢ medido na AV2.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25999"/>
          </a:xfrm>
          <a:prstGeom prst="rect">
            <a:avLst/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288000"/>
            <a:ext cx="9000000" cy="576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D0F14"/>
                </a:solidFill>
                <a:latin typeface="Plus Jakarta Sans"/>
              </a:rPr>
              <a:t>Ensaio reprodutível e injeção de falhas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6336000"/>
            <a:ext cx="7200000" cy="288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Fundamentação · ⟪quem apresenta⟫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80000" y="6336000"/>
            <a:ext cx="936000" cy="288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8/11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1080000"/>
            <a:ext cx="11160000" cy="5040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D0F14"/>
                </a:solidFill>
                <a:latin typeface="Plus Jakarta Sans"/>
              </a:rPr>
              <a:t>Semente fixa 20261020</a:t>
            </a:r>
            <a:r>
              <a:rPr sz="2000" b="0">
                <a:solidFill>
                  <a:srgbClr val="0D0F14"/>
                </a:solidFill>
                <a:latin typeface="Plus Jakarta Sans"/>
              </a:rPr>
              <a:t> — java.util.Random tem algoritmo especificado: mesmo resultado em qualquer JVM/Android.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0D0F14"/>
                </a:solidFill>
                <a:latin typeface="Plus Jakarta Sans"/>
              </a:rPr>
              <a:t>Um gerador por (semente, rótulo): a ordem dos ensaios não muda os números.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0D0F14"/>
                </a:solidFill>
                <a:latin typeface="Plus Jakarta Sans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000" b="1">
                <a:solidFill>
                  <a:srgbClr val="0D0F14"/>
                </a:solidFill>
                <a:latin typeface="Plus Jakarta Sans"/>
              </a:rPr>
              <a:t>Ruído: </a:t>
            </a:r>
            <a:r>
              <a:rPr sz="2000" b="0">
                <a:solidFill>
                  <a:srgbClr val="0D0F14"/>
                </a:solidFill>
                <a:latin typeface="Plus Jakarta Sans"/>
              </a:rPr>
              <a:t>gaussiano extra, acurácia declarada inalterada (sensor otimista)</a:t>
            </a:r>
          </a:p>
          <a:p>
            <a:pPr algn="l">
              <a:spcAft>
                <a:spcPts val="400"/>
              </a:spcAft>
            </a:pPr>
            <a:r>
              <a:rPr sz="2000" b="1">
                <a:solidFill>
                  <a:srgbClr val="0D0F14"/>
                </a:solidFill>
                <a:latin typeface="Plus Jakarta Sans"/>
              </a:rPr>
              <a:t>Perda: </a:t>
            </a:r>
            <a:r>
              <a:rPr sz="2000" b="0">
                <a:solidFill>
                  <a:srgbClr val="0D0F14"/>
                </a:solidFill>
                <a:latin typeface="Plus Jakarta Sans"/>
              </a:rPr>
              <a:t>fixos retirados com probabilidade p (Δt cresce)</a:t>
            </a:r>
          </a:p>
          <a:p>
            <a:pPr algn="l">
              <a:spcAft>
                <a:spcPts val="400"/>
              </a:spcAft>
            </a:pPr>
            <a:r>
              <a:rPr sz="2000" b="1">
                <a:solidFill>
                  <a:srgbClr val="0D0F14"/>
                </a:solidFill>
                <a:latin typeface="Plus Jakarta Sans"/>
              </a:rPr>
              <a:t>Salto: </a:t>
            </a:r>
            <a:r>
              <a:rPr sz="2000" b="0">
                <a:solidFill>
                  <a:srgbClr val="0D0F14"/>
                </a:solidFill>
                <a:latin typeface="Plus Jakarta Sans"/>
              </a:rPr>
              <a:t>um fixo deslocado de J metros em direção sorteada (o erro grosseiro)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0D0F14"/>
                </a:solidFill>
                <a:latin typeface="Plus Jakarta Sans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000" b="1">
                <a:solidFill>
                  <a:srgbClr val="0D0F14"/>
                </a:solidFill>
                <a:latin typeface="Plus Jakarta Sans"/>
              </a:rPr>
              <a:t>Onde a detecção começa a falhar: </a:t>
            </a:r>
            <a:r>
              <a:rPr sz="2000" b="0">
                <a:solidFill>
                  <a:srgbClr val="0D0F14"/>
                </a:solidFill>
                <a:latin typeface="Plus Jakarta Sans"/>
              </a:rPr>
              <a:t>menor salto com ≥ 90% de detecção = 5 m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0D0F14"/>
                </a:solidFill>
                <a:latin typeface="Plus Jakarta Sans"/>
              </a:rPr>
              <a:t>Falso alarme sem salto: 0%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25999"/>
          </a:xfrm>
          <a:prstGeom prst="rect">
            <a:avLst/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288000"/>
            <a:ext cx="9000000" cy="576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D0F14"/>
                </a:solidFill>
                <a:latin typeface="Plus Jakarta Sans"/>
              </a:rPr>
              <a:t>MVP ao vivo — o caminho do dado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6336000"/>
            <a:ext cx="7200000" cy="288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MVP ao vivo · ⟪quem apresenta⟫ · 9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80000" y="6336000"/>
            <a:ext cx="936000" cy="288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9/11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000" y="1080000"/>
            <a:ext cx="576000" cy="648000"/>
          </a:xfrm>
          <a:prstGeom prst="roundRect">
            <a:avLst>
              <a:gd name="adj" fmla="val 6000"/>
            </a:avLst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90000" rIns="90000" tIns="54000" bIns="54000"/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Plus Jakarta San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000" y="1080000"/>
            <a:ext cx="10440000" cy="684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0D0F14"/>
                </a:solidFill>
                <a:latin typeface="Plus Jakarta Sans"/>
              </a:rPr>
              <a:t>Aparelho bloqueado  </a:t>
            </a:r>
            <a:r>
              <a:rPr sz="1900" b="0">
                <a:solidFill>
                  <a:srgbClr val="0D0F14"/>
                </a:solidFill>
                <a:latin typeface="Plus Jakarta Sans"/>
              </a:rPr>
              <a:t>notificação na tela de bloqueio: fixos GNSS, IMU e tempo subindo (ativado 30+ min antes; "Permitir o tempo todo", economia de energia desligada)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000" y="1908000"/>
            <a:ext cx="576000" cy="648000"/>
          </a:xfrm>
          <a:prstGeom prst="roundRect">
            <a:avLst>
              <a:gd name="adj" fmla="val 6000"/>
            </a:avLst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90000" rIns="90000" tIns="54000" bIns="54000"/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Plus Jakarta Sans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000" y="1908000"/>
            <a:ext cx="10440000" cy="684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0D0F14"/>
                </a:solidFill>
                <a:latin typeface="Plus Jakarta Sans"/>
              </a:rPr>
              <a:t>Ensaio AV1  </a:t>
            </a:r>
            <a:r>
              <a:rPr sz="1900" b="0">
                <a:solidFill>
                  <a:srgbClr val="0D0F14"/>
                </a:solidFill>
                <a:latin typeface="Plus Jakarta Sans"/>
              </a:rPr>
              <a:t>toque longo no status → bloco de aquisição ao vivo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000" y="2736000"/>
            <a:ext cx="576000" cy="648000"/>
          </a:xfrm>
          <a:prstGeom prst="roundRect">
            <a:avLst>
              <a:gd name="adj" fmla="val 6000"/>
            </a:avLst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90000" rIns="90000" tIns="54000" bIns="54000"/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Plus Jakarta Sans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000" y="2736000"/>
            <a:ext cx="10440000" cy="684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0D0F14"/>
                </a:solidFill>
                <a:latin typeface="Plus Jakarta Sans"/>
              </a:rPr>
              <a:t>Reprodução ×10  </a:t>
            </a:r>
            <a:r>
              <a:rPr sz="1900" b="0">
                <a:solidFill>
                  <a:srgbClr val="0D0F14"/>
                </a:solidFill>
                <a:latin typeface="Plus Jakarta Sans"/>
              </a:rPr>
              <a:t>registro da caminhada, salto de 30 m, semente 20261020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000" y="3563999"/>
            <a:ext cx="576000" cy="648000"/>
          </a:xfrm>
          <a:prstGeom prst="roundRect">
            <a:avLst>
              <a:gd name="adj" fmla="val 6000"/>
            </a:avLst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90000" rIns="90000" tIns="54000" bIns="54000"/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Plus Jakarta Sans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000" y="3563999"/>
            <a:ext cx="10440000" cy="684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0D0F14"/>
                </a:solidFill>
                <a:latin typeface="Plus Jakarta Sans"/>
              </a:rPr>
              <a:t>Resíduo na tela  </a:t>
            </a:r>
            <a:r>
              <a:rPr sz="1900" b="0">
                <a:solidFill>
                  <a:srgbClr val="0D0F14"/>
                </a:solidFill>
                <a:latin typeface="Plus Jakarta Sans"/>
              </a:rPr>
              <a:t>RMS antes → depois (≈ 10⁻¹⁵ m), γ contra χ² 95%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000" y="4392000"/>
            <a:ext cx="576000" cy="648000"/>
          </a:xfrm>
          <a:prstGeom prst="roundRect">
            <a:avLst>
              <a:gd name="adj" fmla="val 6000"/>
            </a:avLst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90000" rIns="90000" tIns="54000" bIns="54000"/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Plus Jakarta Sans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000" y="4392000"/>
            <a:ext cx="10440000" cy="684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0D0F14"/>
                </a:solidFill>
                <a:latin typeface="Plus Jakarta Sans"/>
              </a:rPr>
              <a:t>Erro grosseiro  </a:t>
            </a:r>
            <a:r>
              <a:rPr sz="1900" b="0">
                <a:solidFill>
                  <a:srgbClr val="0D0F14"/>
                </a:solidFill>
                <a:latin typeface="Plus Jakarta Sans"/>
              </a:rPr>
              <a:t>"ERRO GROSSEIRO no fixo N ← o salto injetado"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000" y="5220000"/>
            <a:ext cx="576000" cy="648000"/>
          </a:xfrm>
          <a:prstGeom prst="roundRect">
            <a:avLst>
              <a:gd name="adj" fmla="val 6000"/>
            </a:avLst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90000" rIns="90000" tIns="54000" bIns="54000"/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Plus Jakarta Sans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52000" y="5220000"/>
            <a:ext cx="10440000" cy="684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0D0F14"/>
                </a:solidFill>
                <a:latin typeface="Plus Jakarta Sans"/>
              </a:rPr>
              <a:t>Falha de propósito  </a:t>
            </a:r>
            <a:r>
              <a:rPr sz="1900" b="0">
                <a:solidFill>
                  <a:srgbClr val="0D0F14"/>
                </a:solidFill>
                <a:latin typeface="Plus Jakarta Sans"/>
              </a:rPr>
              <a:t>salto abaixo do mínimo detectável: passa sem ser detectado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25999"/>
          </a:xfrm>
          <a:prstGeom prst="rect">
            <a:avLst/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288000"/>
            <a:ext cx="9000000" cy="576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D0F14"/>
                </a:solidFill>
                <a:latin typeface="Plus Jakarta Sans"/>
              </a:rPr>
              <a:t>Resultados com condição de medição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6336000"/>
            <a:ext cx="7200000" cy="288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Resultados · ⟪quem apresenta⟫ · 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80000" y="6336000"/>
            <a:ext cx="936000" cy="288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10/11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32000" y="1080000"/>
          <a:ext cx="11340000" cy="43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80000"/>
                <a:gridCol w="3780000"/>
                <a:gridCol w="3780000"/>
              </a:tblGrid>
              <a:tr h="4800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Plus Jakarta Sans"/>
                        </a:rPr>
                        <a:t>Grandeza</a:t>
                      </a:r>
                    </a:p>
                  </a:txBody>
                  <a:tcPr>
                    <a:solidFill>
                      <a:srgbClr val="5E4A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Plus Jakarta Sans"/>
                        </a:rPr>
                        <a:t>Condição</a:t>
                      </a:r>
                    </a:p>
                  </a:txBody>
                  <a:tcPr>
                    <a:solidFill>
                      <a:srgbClr val="5E4A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Plus Jakarta Sans"/>
                        </a:rPr>
                        <a:t>Valor</a:t>
                      </a:r>
                    </a:p>
                  </a:txBody>
                  <a:tcPr>
                    <a:solidFill>
                      <a:srgbClr val="5E4AE3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Testes de unidade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gradlew test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ver testes_unidade.md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Teste de corrida</a:t>
                      </a:r>
                    </a:p>
                  </a:txBody>
                  <a:tcPr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10 execuções independentes</a:t>
                      </a:r>
                    </a:p>
                  </a:txBody>
                  <a:tcPr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ver corrida_10_execucoes.md</a:t>
                      </a:r>
                    </a:p>
                  </a:txBody>
                  <a:tcPr>
                    <a:solidFill>
                      <a:srgbClr val="F4F5F9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Aquisição bloqueada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maior trecho contínuo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36,3 min · IMU 50,1 Hz · 0 leituras perdidas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GPS com a tela apagada</a:t>
                      </a:r>
                    </a:p>
                  </a:txBody>
                  <a:tcPr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mesmo trecho; antes da D-23 entre parênteses</a:t>
                      </a:r>
                    </a:p>
                  </a:txBody>
                  <a:tcPr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87% do tempo (62%) · sem GPS, rede a cada ≤ 20 s</a:t>
                      </a:r>
                    </a:p>
                  </a:txBody>
                  <a:tcPr>
                    <a:solidFill>
                      <a:srgbClr val="F4F5F9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Consumo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bateria durante o trecho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5,0 %/h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Razão de otimismo</a:t>
                      </a:r>
                    </a:p>
                  </a:txBody>
                  <a:tcPr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parado; 99% dos fixos retidos</a:t>
                      </a:r>
                    </a:p>
                  </a:txBody>
                  <a:tcPr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0,56 (não mede o ruído)</a:t>
                      </a:r>
                    </a:p>
                  </a:txBody>
                  <a:tcPr>
                    <a:solidFill>
                      <a:srgbClr val="F4F5F9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Resíduo RMS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85 janelas reais da caminhada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0,24 m → 2e-15 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Salto mínimo detectável</a:t>
                      </a:r>
                    </a:p>
                  </a:txBody>
                  <a:tcPr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≥ 90% de detecção</a:t>
                      </a:r>
                    </a:p>
                  </a:txBody>
                  <a:tcPr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5 m</a:t>
                      </a:r>
                    </a:p>
                  </a:txBody>
                  <a:tcPr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32000" y="5544000"/>
            <a:ext cx="11160000" cy="540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F80"/>
                </a:solidFill>
                <a:latin typeface="Plus Jakarta Sans"/>
              </a:rPr>
              <a:t>Aparelho: Samsung SM-S926B · coletas: 22/10/2026, campus da UFLA (sessão bloqueada de 21h12 fora do campus, coordenadas deslocadas) · scripts\av1_evidencias.ps1 · semente 20261020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25999"/>
          </a:xfrm>
          <a:prstGeom prst="rect">
            <a:avLst/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288000"/>
            <a:ext cx="9000000" cy="576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D0F14"/>
                </a:solidFill>
                <a:latin typeface="Plus Jakarta Sans"/>
              </a:rPr>
              <a:t>Limitações e próximo passo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6336000"/>
            <a:ext cx="7200000" cy="288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Resultados · ⟪quem apresenta⟫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80000" y="6336000"/>
            <a:ext cx="936000" cy="288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11/11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1080000"/>
            <a:ext cx="5580000" cy="5040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0D0F14"/>
                </a:solidFill>
                <a:latin typeface="Plus Jakarta Sans"/>
              </a:rPr>
              <a:t>O que não sabemos ainda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0D0F14"/>
                </a:solidFill>
                <a:latin typeface="Plus Jakarta Sans"/>
              </a:rPr>
              <a:t>Sem verdade de campo: a referência é a janela limpa reconciliada.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0D0F14"/>
                </a:solidFill>
                <a:latin typeface="Plus Jakarta Sans"/>
              </a:rPr>
              <a:t>Erro de GNSS é correlacionado no tempo: γ não é exatamente χ².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0D0F14"/>
                </a:solidFill>
                <a:latin typeface="Plus Jakarta Sans"/>
              </a:rPr>
              <a:t>Sem localização em segundo plano o GPS parava ~3 min após apagar a tela; com ela, 87% do tempo e uma pausa de 4,5 min sem causa conhecida.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0D0F14"/>
                </a:solidFill>
                <a:latin typeface="Plus Jakarta Sans"/>
              </a:rPr>
              <a:t>Parado, o receptor retém a posição: o ensaio estático não mede o ruído.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0D0F14"/>
                </a:solidFill>
                <a:latin typeface="Plus Jakarta Sans"/>
              </a:rPr>
              <a:t>Registro em claro até a cifragem da AV2.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0000" y="1080000"/>
            <a:ext cx="5508000" cy="5040000"/>
          </a:xfrm>
          <a:prstGeom prst="roundRect">
            <a:avLst>
              <a:gd name="adj" fmla="val 6000"/>
            </a:avLst>
          </a:prstGeom>
          <a:solidFill>
            <a:srgbClr val="F4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90000" rIns="90000" tIns="54000" bIns="54000"/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0D0F14"/>
                </a:solidFill>
                <a:latin typeface="Plus Jakarta Sans"/>
              </a:rPr>
              <a:t>AV2</a:t>
            </a:r>
          </a:p>
          <a:p>
            <a:pPr algn="l">
              <a:spcAft>
                <a:spcPts val="400"/>
              </a:spcAft>
            </a:pPr>
            <a:r>
              <a:rPr sz="1900" b="0">
                <a:solidFill>
                  <a:srgbClr val="0D0F14"/>
                </a:solidFill>
                <a:latin typeface="Plus Jakarta Sans"/>
              </a:rPr>
              <a:t>Pedir a localização em segundo plano no app; consumidor IMU com taxa fixa (D-22)</a:t>
            </a:r>
          </a:p>
          <a:p>
            <a:pPr algn="l">
              <a:spcAft>
                <a:spcPts val="400"/>
              </a:spcAft>
            </a:pPr>
            <a:r>
              <a:rPr sz="1900" b="0">
                <a:solidFill>
                  <a:srgbClr val="0D0F14"/>
                </a:solidFill>
                <a:latin typeface="Plus Jakarta Sans"/>
              </a:rPr>
              <a:t>Cᵢ medido e escalonabilidade das 4 tarefas periódicas</a:t>
            </a:r>
          </a:p>
          <a:p>
            <a:pPr algn="l">
              <a:spcAft>
                <a:spcPts val="400"/>
              </a:spcAft>
            </a:pPr>
            <a:r>
              <a:rPr sz="1900" b="0">
                <a:solidFill>
                  <a:srgbClr val="0D0F14"/>
                </a:solidFill>
                <a:latin typeface="Plus Jakarta Sans"/>
              </a:rPr>
              <a:t>Aprendizado online dos encontros de rede</a:t>
            </a:r>
          </a:p>
          <a:p>
            <a:pPr algn="l">
              <a:spcAft>
                <a:spcPts val="400"/>
              </a:spcAft>
            </a:pPr>
            <a:r>
              <a:rPr sz="1900" b="0">
                <a:solidFill>
                  <a:srgbClr val="0D0F14"/>
                </a:solidFill>
                <a:latin typeface="Plus Jakarta Sans"/>
              </a:rPr>
              <a:t>Agente com RuleEngine e modelo removível</a:t>
            </a:r>
          </a:p>
          <a:p>
            <a:pPr algn="l">
              <a:spcAft>
                <a:spcPts val="400"/>
              </a:spcAft>
            </a:pPr>
            <a:r>
              <a:rPr sz="1900" b="0">
                <a:solidFill>
                  <a:srgbClr val="0D0F14"/>
                </a:solidFill>
                <a:latin typeface="Plus Jakarta Sans"/>
              </a:rPr>
              <a:t>AES-GCM com chave no Keystore e frota com deriva de relógio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
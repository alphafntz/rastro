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485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rastro-simbolo-branc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540000"/>
            <a:ext cx="108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2232000"/>
            <a:ext cx="10800000" cy="93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Rastro — sente, corrige e detecta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204000"/>
            <a:ext cx="10800000" cy="503999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9E6FF"/>
                </a:solidFill>
                <a:latin typeface="Plus Jakarta Sans"/>
              </a:rPr>
              <a:t>Apresentação I · AV1 · GAT108 Automação Avançada · UFLA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36000"/>
            <a:ext cx="10800000" cy="108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Juliano Cesar Ferreira Ramos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Andre Bueno Ocanha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João Paulo Silva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O que a camada 1 mede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2/11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400000" cy="432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Domínio: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rede mesh entre Androids em áreas sem cobertura. Para a AV1, o nó precisa </a:t>
            </a:r>
            <a:r>
              <a:rPr sz="1900" b="1">
                <a:solidFill>
                  <a:srgbClr val="0D0F14"/>
                </a:solidFill>
                <a:latin typeface="Plus Jakarta Sans"/>
              </a:rPr>
              <a:t>sentir, corrigir e detectar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 sem enviar nada para fora.</a:t>
            </a:r>
          </a:p>
          <a:p>
            <a:pPr algn="l">
              <a:spcAft>
                <a:spcPts val="400"/>
              </a:spcAft>
            </a:pPr>
            <a:endParaRPr sz="19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Fixo GNSS a cada 1 s: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posição, velocidade (Doppler) e rumo, cada um com a acurácia de 68% que o receptor informa.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Acelerômetro a 50 Hz: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aquisição contínua em serviço de primeiro plano.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Fonte da incerteza: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multipercurso, geometria dos satélites, céu obstruído.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400000" cy="43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Fixo (RegistroFix)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tempo monotônico (ns) · UTC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latitude, longitude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r68 horizontal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velocidade s (m/s) ± σs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rumo θ (°) ± σθ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provedor (gps / network)</a:t>
            </a:r>
          </a:p>
          <a:p>
            <a:pPr algn="l">
              <a:spcAft>
                <a:spcPts val="400"/>
              </a:spcAft>
            </a:pPr>
            <a:endParaRPr sz="18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Campo ausente fica vazio: nenhuma incerteza é inventada.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Memória estável durante a coleta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Juliano Cesar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3/11</a:t>
            </a:r>
          </a:p>
        </p:txBody>
      </p:sp>
      <p:sp>
        <p:nvSpPr>
          <p:cNvPr id="6" name="Lead"/>
          <p:cNvSpPr txBox="1"/>
          <p:nvPr/>
        </p:nvSpPr>
        <p:spPr>
          <a:xfrm>
            <a:off x="432000" y="1080000"/>
            <a:ext cx="11328000" cy="46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D0F14"/>
                </a:solidFill>
                <a:latin typeface="Plus Jakarta Sans"/>
              </a:rPr>
              <a:t>Duas estruturas, uma regra: </a:t>
            </a:r>
            <a:r>
              <a:rPr sz="2200" b="1">
                <a:solidFill>
                  <a:srgbClr val="5E4AE3"/>
                </a:solidFill>
                <a:latin typeface="Plus Jakarta Sans"/>
              </a:rPr>
              <a:t>a memória não cresce.</a:t>
            </a:r>
          </a:p>
        </p:txBody>
      </p:sp>
      <p:sp>
        <p:nvSpPr>
          <p:cNvPr id="7" name="Card Trajeto"/>
          <p:cNvSpPr/>
          <p:nvPr/>
        </p:nvSpPr>
        <p:spPr>
          <a:xfrm>
            <a:off x="432000" y="1740000"/>
            <a:ext cx="5484000" cy="14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8" name="Número 1"/>
          <p:cNvSpPr/>
          <p:nvPr/>
        </p:nvSpPr>
        <p:spPr>
          <a:xfrm>
            <a:off x="672000" y="212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o Trajeto"/>
          <p:cNvSpPr txBox="1"/>
          <p:nvPr/>
        </p:nvSpPr>
        <p:spPr>
          <a:xfrm>
            <a:off x="1448000" y="1740000"/>
            <a:ext cx="4308000" cy="14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D0F14"/>
                </a:solidFill>
                <a:latin typeface="Plus Jakarta Sans"/>
              </a:rPr>
              <a:t>Trajeto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guarda somente as últimas posições.</a:t>
            </a:r>
          </a:p>
        </p:txBody>
      </p:sp>
      <p:sp>
        <p:nvSpPr>
          <p:cNvPr id="10" name="Card Buffer IMU"/>
          <p:cNvSpPr/>
          <p:nvPr/>
        </p:nvSpPr>
        <p:spPr>
          <a:xfrm>
            <a:off x="6276000" y="1740000"/>
            <a:ext cx="5484000" cy="14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1" name="Número 2"/>
          <p:cNvSpPr/>
          <p:nvPr/>
        </p:nvSpPr>
        <p:spPr>
          <a:xfrm>
            <a:off x="6516000" y="212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2" name="Texto Buffer IMU"/>
          <p:cNvSpPr txBox="1"/>
          <p:nvPr/>
        </p:nvSpPr>
        <p:spPr>
          <a:xfrm>
            <a:off x="7292000" y="1740000"/>
            <a:ext cx="4308000" cy="14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D0F14"/>
                </a:solidFill>
                <a:latin typeface="Plus Jakarta Sans"/>
              </a:rPr>
              <a:t>Buffer IMU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guarda </a:t>
            </a:r>
            <a:r>
              <a:rPr sz="1700" b="1">
                <a:solidFill>
                  <a:srgbClr val="5E4AE3"/>
                </a:solidFill>
                <a:latin typeface="Plus Jakarta Sans"/>
              </a:rPr>
              <a:t>500 leituras</a:t>
            </a:r>
            <a:r>
              <a:rPr sz="1700" b="0">
                <a:solidFill>
                  <a:srgbClr val="0D0F14"/>
                </a:solidFill>
                <a:latin typeface="Plus Jakarta Sans"/>
              </a:rPr>
              <a:t>, cerca de 10 segundos.</a:t>
            </a:r>
          </a:p>
        </p:txBody>
      </p:sp>
      <p:sp>
        <p:nvSpPr>
          <p:cNvPr id="13" name="Card regra"/>
          <p:cNvSpPr/>
          <p:nvPr/>
        </p:nvSpPr>
        <p:spPr>
          <a:xfrm>
            <a:off x="432000" y="3400000"/>
            <a:ext cx="11328000" cy="14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4" name="Texto regra"/>
          <p:cNvSpPr txBox="1"/>
          <p:nvPr/>
        </p:nvSpPr>
        <p:spPr>
          <a:xfrm>
            <a:off x="672000" y="3400000"/>
            <a:ext cx="4200000" cy="144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Chegou uma leitura e está cheio?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5E4AE3"/>
                </a:solidFill>
                <a:latin typeface="Plus Jakarta Sans"/>
              </a:rPr>
              <a:t>A mais antiga sai.</a:t>
            </a:r>
          </a:p>
        </p:txBody>
      </p:sp>
      <p:sp>
        <p:nvSpPr>
          <p:cNvPr id="15" name="Célula 1"/>
          <p:cNvSpPr/>
          <p:nvPr/>
        </p:nvSpPr>
        <p:spPr>
          <a:xfrm>
            <a:off x="515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6" name="Célula 2"/>
          <p:cNvSpPr/>
          <p:nvPr/>
        </p:nvSpPr>
        <p:spPr>
          <a:xfrm>
            <a:off x="604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7" name="Célula 3"/>
          <p:cNvSpPr/>
          <p:nvPr/>
        </p:nvSpPr>
        <p:spPr>
          <a:xfrm>
            <a:off x="693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8" name="Célula 4"/>
          <p:cNvSpPr/>
          <p:nvPr/>
        </p:nvSpPr>
        <p:spPr>
          <a:xfrm>
            <a:off x="782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9" name="Célula 5"/>
          <p:cNvSpPr/>
          <p:nvPr/>
        </p:nvSpPr>
        <p:spPr>
          <a:xfrm>
            <a:off x="871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0" name="Célula 6"/>
          <p:cNvSpPr/>
          <p:nvPr/>
        </p:nvSpPr>
        <p:spPr>
          <a:xfrm>
            <a:off x="960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1" name="Célula 7"/>
          <p:cNvSpPr/>
          <p:nvPr/>
        </p:nvSpPr>
        <p:spPr>
          <a:xfrm>
            <a:off x="10490000" y="3640000"/>
            <a:ext cx="760000" cy="640000"/>
          </a:xfrm>
          <a:prstGeom prst="roundRect">
            <a:avLst>
              <a:gd name="adj" fmla="val 12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2" name="Rótulo sai"/>
          <p:cNvSpPr txBox="1"/>
          <p:nvPr/>
        </p:nvSpPr>
        <p:spPr>
          <a:xfrm>
            <a:off x="4980000" y="4340000"/>
            <a:ext cx="11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pt-BR" sz="1400" b="1" dirty="0">
                <a:solidFill>
                  <a:srgbClr val="6B6F80"/>
                </a:solidFill>
                <a:latin typeface="Plus Jakarta Sans"/>
              </a:rPr>
              <a:t>←</a:t>
            </a:r>
          </a:p>
        </p:txBody>
      </p:sp>
      <p:sp>
        <p:nvSpPr>
          <p:cNvPr id="23" name="Rótulo buffer"/>
          <p:cNvSpPr txBox="1"/>
          <p:nvPr/>
        </p:nvSpPr>
        <p:spPr>
          <a:xfrm>
            <a:off x="6040000" y="4340000"/>
            <a:ext cx="432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D0F14"/>
                </a:solidFill>
                <a:latin typeface="Plus Jakarta Sans"/>
              </a:rPr>
              <a:t>500 leituras · ≈ 10 s</a:t>
            </a:r>
          </a:p>
        </p:txBody>
      </p:sp>
      <p:sp>
        <p:nvSpPr>
          <p:cNvPr id="24" name="Rótulo entra"/>
          <p:cNvSpPr txBox="1"/>
          <p:nvPr/>
        </p:nvSpPr>
        <p:spPr>
          <a:xfrm>
            <a:off x="10320000" y="4340000"/>
            <a:ext cx="11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pt-BR" sz="1400" b="1" dirty="0">
                <a:solidFill>
                  <a:srgbClr val="5E4AE3"/>
                </a:solidFill>
                <a:latin typeface="Plus Jakarta Sans"/>
              </a:rPr>
              <a:t>→</a:t>
            </a:r>
            <a:endParaRPr sz="1400" b="1" dirty="0">
              <a:solidFill>
                <a:srgbClr val="5E4AE3"/>
              </a:solidFill>
              <a:latin typeface="Plus Jakarta Sans"/>
            </a:endParaRPr>
          </a:p>
        </p:txBody>
      </p:sp>
      <p:sp>
        <p:nvSpPr>
          <p:cNvPr id="25" name="Card cópia"/>
          <p:cNvSpPr/>
          <p:nvPr/>
        </p:nvSpPr>
        <p:spPr>
          <a:xfrm>
            <a:off x="432000" y="5060000"/>
            <a:ext cx="5484000" cy="1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6" name="Texto cópia"/>
          <p:cNvSpPr txBox="1"/>
          <p:nvPr/>
        </p:nvSpPr>
        <p:spPr>
          <a:xfrm>
            <a:off x="672000" y="5060000"/>
            <a:ext cx="5004000" cy="104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Quem lê o buffer recebe </a:t>
            </a:r>
            <a:r>
              <a:rPr sz="1600" b="1">
                <a:solidFill>
                  <a:srgbClr val="5E4AE3"/>
                </a:solidFill>
                <a:latin typeface="Plus Jakarta Sans"/>
              </a:rPr>
              <a:t>uma cópia</a:t>
            </a:r>
            <a:r>
              <a:rPr sz="1600" b="0">
                <a:solidFill>
                  <a:srgbClr val="0D0F14"/>
                </a:solidFill>
                <a:latin typeface="Plus Jakarta Sans"/>
              </a:rPr>
              <a:t>: a leitura não se mistura com uma gravação em andamento.</a:t>
            </a:r>
          </a:p>
        </p:txBody>
      </p:sp>
      <p:sp>
        <p:nvSpPr>
          <p:cNvPr id="27" name="Card conclusão"/>
          <p:cNvSpPr/>
          <p:nvPr/>
        </p:nvSpPr>
        <p:spPr>
          <a:xfrm>
            <a:off x="6276000" y="5060000"/>
            <a:ext cx="5484000" cy="1040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8" name="Texto conclusão"/>
          <p:cNvSpPr txBox="1"/>
          <p:nvPr/>
        </p:nvSpPr>
        <p:spPr>
          <a:xfrm>
            <a:off x="6516000" y="5060000"/>
            <a:ext cx="5004000" cy="104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Assim, o app pode ficar ligado por muito tempo sem aumentar o uso de memória.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A precisão vem do próprio GPS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Juliano Cesar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4/11</a:t>
            </a:r>
          </a:p>
        </p:txBody>
      </p:sp>
      <p:sp>
        <p:nvSpPr>
          <p:cNvPr id="6" name="Número 1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Passo 1"/>
          <p:cNvSpPr txBox="1"/>
          <p:nvPr/>
        </p:nvSpPr>
        <p:spPr>
          <a:xfrm>
            <a:off x="1152000" y="1080000"/>
            <a:ext cx="5280000" cy="648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O GPS não entrega só a posição: ele também informa uma </a:t>
            </a:r>
            <a:r>
              <a:rPr sz="1600" b="1">
                <a:solidFill>
                  <a:srgbClr val="0D0F14"/>
                </a:solidFill>
                <a:latin typeface="Plus Jakarta Sans"/>
              </a:rPr>
              <a:t>margem de erro</a:t>
            </a:r>
            <a:r>
              <a:rPr sz="1600" b="0">
                <a:solidFill>
                  <a:srgbClr val="0D0F14"/>
                </a:solidFill>
                <a:latin typeface="Plus Jakarta Sans"/>
              </a:rPr>
              <a:t>.</a:t>
            </a:r>
          </a:p>
        </p:txBody>
      </p:sp>
      <p:sp>
        <p:nvSpPr>
          <p:cNvPr id="8" name="Número 2"/>
          <p:cNvSpPr/>
          <p:nvPr/>
        </p:nvSpPr>
        <p:spPr>
          <a:xfrm>
            <a:off x="432000" y="184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Passo 2"/>
          <p:cNvSpPr txBox="1"/>
          <p:nvPr/>
        </p:nvSpPr>
        <p:spPr>
          <a:xfrm>
            <a:off x="1152000" y="1840000"/>
            <a:ext cx="5280000" cy="648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O Android representa essa margem como um </a:t>
            </a:r>
            <a:r>
              <a:rPr sz="1600" b="1">
                <a:solidFill>
                  <a:srgbClr val="0D0F14"/>
                </a:solidFill>
                <a:latin typeface="Plus Jakarta Sans"/>
              </a:rPr>
              <a:t>círculo de precisão de 68%</a:t>
            </a:r>
            <a:r>
              <a:rPr sz="1600" b="0">
                <a:solidFill>
                  <a:srgbClr val="0D0F14"/>
                </a:solidFill>
                <a:latin typeface="Plus Jakarta Sans"/>
              </a:rPr>
              <a:t>.</a:t>
            </a:r>
          </a:p>
        </p:txBody>
      </p:sp>
      <p:sp>
        <p:nvSpPr>
          <p:cNvPr id="10" name="Número 3"/>
          <p:cNvSpPr/>
          <p:nvPr/>
        </p:nvSpPr>
        <p:spPr>
          <a:xfrm>
            <a:off x="432000" y="260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Passo 3"/>
          <p:cNvSpPr txBox="1"/>
          <p:nvPr/>
        </p:nvSpPr>
        <p:spPr>
          <a:xfrm>
            <a:off x="1152000" y="2600000"/>
            <a:ext cx="5280000" cy="648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Nós transformamos esse círculo em uma </a:t>
            </a:r>
            <a:r>
              <a:rPr sz="1600" b="1">
                <a:solidFill>
                  <a:srgbClr val="5E4AE3"/>
                </a:solidFill>
                <a:latin typeface="Plus Jakarta Sans"/>
              </a:rPr>
              <a:t>medida de incerteza</a:t>
            </a:r>
            <a:r>
              <a:rPr sz="1600" b="0">
                <a:solidFill>
                  <a:srgbClr val="0D0F14"/>
                </a:solidFill>
                <a:latin typeface="Plus Jakarta Sans"/>
              </a:rPr>
              <a:t> para a correção.</a:t>
            </a:r>
          </a:p>
        </p:txBody>
      </p:sp>
      <p:sp>
        <p:nvSpPr>
          <p:cNvPr id="12" name="Card exemplo"/>
          <p:cNvSpPr/>
          <p:nvPr/>
        </p:nvSpPr>
        <p:spPr>
          <a:xfrm>
            <a:off x="432000" y="3400000"/>
            <a:ext cx="6000000" cy="940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3" name="Exemplo precisão"/>
          <p:cNvSpPr txBox="1"/>
          <p:nvPr/>
        </p:nvSpPr>
        <p:spPr>
          <a:xfrm>
            <a:off x="672000" y="3400000"/>
            <a:ext cx="2000000" cy="9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lus Jakarta Sans"/>
              </a:rPr>
              <a:t>6 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4E0FB"/>
                </a:solidFill>
                <a:latin typeface="Plus Jakarta Sans"/>
              </a:rPr>
              <a:t>precisão (exemplo)</a:t>
            </a:r>
          </a:p>
        </p:txBody>
      </p:sp>
      <p:sp>
        <p:nvSpPr>
          <p:cNvPr id="14" name="Seta"/>
          <p:cNvSpPr txBox="1"/>
          <p:nvPr/>
        </p:nvSpPr>
        <p:spPr>
          <a:xfrm>
            <a:off x="2700000" y="3400000"/>
            <a:ext cx="600000" cy="9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lus Jakarta Sans"/>
              </a:rPr>
              <a:t>→</a:t>
            </a:r>
          </a:p>
        </p:txBody>
      </p:sp>
      <p:sp>
        <p:nvSpPr>
          <p:cNvPr id="15" name="Exemplo incerteza"/>
          <p:cNvSpPr txBox="1"/>
          <p:nvPr/>
        </p:nvSpPr>
        <p:spPr>
          <a:xfrm>
            <a:off x="3400000" y="3400000"/>
            <a:ext cx="2900000" cy="9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lus Jakarta Sans"/>
              </a:rPr>
              <a:t>≈ 4 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4E0FB"/>
                </a:solidFill>
                <a:latin typeface="Plus Jakarta Sans"/>
              </a:rPr>
              <a:t>de incerteza em cada direção</a:t>
            </a:r>
          </a:p>
        </p:txBody>
      </p:sp>
      <p:sp>
        <p:nvSpPr>
          <p:cNvPr id="16" name="Card velocidade"/>
          <p:cNvSpPr/>
          <p:nvPr/>
        </p:nvSpPr>
        <p:spPr>
          <a:xfrm>
            <a:off x="432000" y="4520000"/>
            <a:ext cx="6000000" cy="15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7" name="Texto velocidade"/>
          <p:cNvSpPr txBox="1"/>
          <p:nvPr/>
        </p:nvSpPr>
        <p:spPr>
          <a:xfrm>
            <a:off x="672000" y="4520000"/>
            <a:ext cx="5520000" cy="158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>Com a velocidade é igual: usamos o valor, a direção e as margens informadas pelo sensor.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>Se alguma margem não vier informada, o aplicativo </a:t>
            </a:r>
            <a:r>
              <a:rPr sz="1500" b="1">
                <a:solidFill>
                  <a:srgbClr val="5E4AE3"/>
                </a:solidFill>
                <a:latin typeface="Plus Jakarta Sans"/>
              </a:rPr>
              <a:t>não inventa um número</a:t>
            </a:r>
            <a:r>
              <a:rPr sz="1500" b="0">
                <a:solidFill>
                  <a:srgbClr val="0D0F14"/>
                </a:solidFill>
                <a:latin typeface="Plus Jakarta Sans"/>
              </a:rPr>
              <a:t>. Assim, uma leitura incerta não é tratada como se fosse confiável.</a:t>
            </a:r>
          </a:p>
        </p:txBody>
      </p:sp>
      <p:sp>
        <p:nvSpPr>
          <p:cNvPr id="18" name="Card gráfico"/>
          <p:cNvSpPr/>
          <p:nvPr/>
        </p:nvSpPr>
        <p:spPr>
          <a:xfrm>
            <a:off x="6760000" y="1080000"/>
            <a:ext cx="5000000" cy="50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pic>
        <p:nvPicPr>
          <p:cNvPr id="19" name="Picture 6" descr="dispersao_est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020" y="1260000"/>
            <a:ext cx="4259960" cy="4420000"/>
          </a:xfrm>
          <a:prstGeom prst="roundRect">
            <a:avLst>
              <a:gd name="adj" fmla="val 2299"/>
            </a:avLst>
          </a:prstGeom>
        </p:spPr>
      </p:pic>
      <p:sp>
        <p:nvSpPr>
          <p:cNvPr id="20" name="Legenda gráfico"/>
          <p:cNvSpPr txBox="1"/>
          <p:nvPr/>
        </p:nvSpPr>
        <p:spPr>
          <a:xfrm>
            <a:off x="6880000" y="5680000"/>
            <a:ext cx="47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Tracejado: precisão de 68% declarada pelo GPS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Reconciliação sob a restrição cinemática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5/11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pₐ(k+1) − pₐ(k) − ½(vₐ(k) + vₐ(k+1))·Δtₖ = 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   a ∈ {leste, norte}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p = posição medida (m) · v = componente da velocidade (m/s) · Δt = intervalo entre fixos (s, relógio monotônico)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Linear nas medidas (Δt é conhecido):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A·y = 0, A com 2(N−1) linhas e 4N colunas, N = 10 fixos</a:t>
            </a:r>
          </a:p>
          <a:p>
            <a:pPr algn="l">
              <a:spcAft>
                <a:spcPts val="400"/>
              </a:spcAft>
            </a:pPr>
            <a:endParaRPr sz="20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ŷ = y − Σ·Aᵀ·(A·Σ·Aᵀ)⁻¹·A·y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y = medidas · ŷ = reconciliadas · Σ = covariância do sensor · r = A·y = resíduo antes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A correção é proporcional a Σ: a medida mais incerta é a que mais se move.</a:t>
            </a:r>
          </a:p>
          <a:p>
            <a:pPr algn="l">
              <a:spcAft>
                <a:spcPts val="400"/>
              </a:spcAft>
            </a:pPr>
            <a:endParaRPr sz="2000" b="1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Descartadas: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mínimos quadrados sem peso (puxa igual a medida boa) · Kalman (exige Q arbitrado) · |Δp| = s·Δt (não linear, perde a direção)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Erro grosseiro: critério quantitativo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6840000" cy="504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zⱼ = |aⱼ| / √Wⱼⱼ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  a = y − ŷ (ajuste) · W = Σ·Aᵀ·V⁻¹·A·Σ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Sem erro grosseiro, zⱼ ~ N(0,1).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Corte de Šidák: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40 medidas por janela; 1,96 em cada daria ~87% de falso alarme.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β = 1 − (1 − α)^(1/n), z_crítico = Φ⁻¹(1 − β/2) ≈ 3,2  (α = 5%, n = 40)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Passou do corte → retira o fixo, reconcilia de novo (até 3).</a:t>
            </a:r>
          </a:p>
          <a:p>
            <a:pPr algn="l">
              <a:spcAft>
                <a:spcPts val="400"/>
              </a:spcAft>
            </a:pPr>
            <a:endParaRPr sz="18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Limite: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nas pontas da janela o erro é detectado, não localizado → janela deslizante.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2000" y="1080000"/>
            <a:ext cx="4176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Sem o detector, piora (4.7)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Salto de 30 m no fixo central: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SEM detector: 2,94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COM detector: 0,07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(distância RMS à reconciliação da janela limpa)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Coleta contínua, sem conflito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Juliano Cesar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7/11</a:t>
            </a:r>
          </a:p>
        </p:txBody>
      </p:sp>
      <p:sp>
        <p:nvSpPr>
          <p:cNvPr id="6" name="Parte Acelerômetro"/>
          <p:cNvSpPr/>
          <p:nvPr/>
        </p:nvSpPr>
        <p:spPr>
          <a:xfrm>
            <a:off x="432000" y="1080000"/>
            <a:ext cx="2700000" cy="7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7" name="Texto Acelerômetro"/>
          <p:cNvSpPr txBox="1"/>
          <p:nvPr/>
        </p:nvSpPr>
        <p:spPr>
          <a:xfrm>
            <a:off x="612000" y="1080000"/>
            <a:ext cx="2440000" cy="7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Acelerômetro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6F80"/>
                </a:solidFill>
                <a:latin typeface="Plus Jakarta Sans"/>
              </a:rPr>
              <a:t>50 leituras por segundo</a:t>
            </a:r>
          </a:p>
        </p:txBody>
      </p:sp>
      <p:sp>
        <p:nvSpPr>
          <p:cNvPr id="8" name="Seta Acelerômetro"/>
          <p:cNvSpPr/>
          <p:nvPr/>
        </p:nvSpPr>
        <p:spPr>
          <a:xfrm>
            <a:off x="3230000" y="1310000"/>
            <a:ext cx="380000" cy="260000"/>
          </a:xfrm>
          <a:prstGeom prst="rightArrow">
            <a:avLst/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9" name="Parte GPS"/>
          <p:cNvSpPr/>
          <p:nvPr/>
        </p:nvSpPr>
        <p:spPr>
          <a:xfrm>
            <a:off x="432000" y="1940000"/>
            <a:ext cx="2700000" cy="7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0" name="Texto GPS"/>
          <p:cNvSpPr txBox="1"/>
          <p:nvPr/>
        </p:nvSpPr>
        <p:spPr>
          <a:xfrm>
            <a:off x="612000" y="1940000"/>
            <a:ext cx="2440000" cy="7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GPS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6F80"/>
                </a:solidFill>
                <a:latin typeface="Plus Jakarta Sans"/>
              </a:rPr>
              <a:t>um fixo por segundo</a:t>
            </a:r>
          </a:p>
        </p:txBody>
      </p:sp>
      <p:sp>
        <p:nvSpPr>
          <p:cNvPr id="11" name="Seta GPS"/>
          <p:cNvSpPr/>
          <p:nvPr/>
        </p:nvSpPr>
        <p:spPr>
          <a:xfrm>
            <a:off x="3230000" y="2170000"/>
            <a:ext cx="380000" cy="260000"/>
          </a:xfrm>
          <a:prstGeom prst="rightArrow">
            <a:avLst/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2" name="Parte Consumidor"/>
          <p:cNvSpPr/>
          <p:nvPr/>
        </p:nvSpPr>
        <p:spPr>
          <a:xfrm>
            <a:off x="432000" y="2800000"/>
            <a:ext cx="2700000" cy="7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3" name="Texto Consumidor"/>
          <p:cNvSpPr txBox="1"/>
          <p:nvPr/>
        </p:nvSpPr>
        <p:spPr>
          <a:xfrm>
            <a:off x="612000" y="2800000"/>
            <a:ext cx="2440000" cy="7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Consumidor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6F80"/>
                </a:solidFill>
                <a:latin typeface="Plus Jakarta Sans"/>
              </a:rPr>
              <a:t>organiza os dados</a:t>
            </a:r>
          </a:p>
        </p:txBody>
      </p:sp>
      <p:sp>
        <p:nvSpPr>
          <p:cNvPr id="14" name="Seta Consumidor"/>
          <p:cNvSpPr/>
          <p:nvPr/>
        </p:nvSpPr>
        <p:spPr>
          <a:xfrm>
            <a:off x="3230000" y="3030000"/>
            <a:ext cx="380000" cy="260000"/>
          </a:xfrm>
          <a:prstGeom prst="rightArrow">
            <a:avLst/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5" name="Parte Registro"/>
          <p:cNvSpPr/>
          <p:nvPr/>
        </p:nvSpPr>
        <p:spPr>
          <a:xfrm>
            <a:off x="432000" y="3660000"/>
            <a:ext cx="2700000" cy="7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6" name="Texto Registro"/>
          <p:cNvSpPr txBox="1"/>
          <p:nvPr/>
        </p:nvSpPr>
        <p:spPr>
          <a:xfrm>
            <a:off x="612000" y="3660000"/>
            <a:ext cx="2440000" cy="72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Registro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6F80"/>
                </a:solidFill>
                <a:latin typeface="Plus Jakarta Sans"/>
              </a:rPr>
              <a:t>salva os dados</a:t>
            </a:r>
          </a:p>
        </p:txBody>
      </p:sp>
      <p:sp>
        <p:nvSpPr>
          <p:cNvPr id="17" name="Seta Registro"/>
          <p:cNvSpPr/>
          <p:nvPr/>
        </p:nvSpPr>
        <p:spPr>
          <a:xfrm>
            <a:off x="3230000" y="3890000"/>
            <a:ext cx="380000" cy="260000"/>
          </a:xfrm>
          <a:prstGeom prst="rightArrow">
            <a:avLst/>
          </a:prstGeom>
          <a:solidFill>
            <a:srgbClr val="B9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8" name="Buffer"/>
          <p:cNvSpPr/>
          <p:nvPr/>
        </p:nvSpPr>
        <p:spPr>
          <a:xfrm>
            <a:off x="3710000" y="1080000"/>
            <a:ext cx="2650000" cy="3300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19" name="Texto buffer"/>
          <p:cNvSpPr txBox="1"/>
          <p:nvPr/>
        </p:nvSpPr>
        <p:spPr>
          <a:xfrm>
            <a:off x="3710000" y="1080000"/>
            <a:ext cx="2650000" cy="254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ctr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Plus Jakarta Sans"/>
              </a:rPr>
              <a:t>Buffer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E4E0FB"/>
                </a:solidFill>
                <a:latin typeface="Plus Jakarta Sans"/>
              </a:rPr>
              <a:t>Todas usam o mesmo buffer.</a:t>
            </a:r>
          </a:p>
        </p:txBody>
      </p:sp>
      <p:sp>
        <p:nvSpPr>
          <p:cNvPr id="20" name="Selo synchronized"/>
          <p:cNvSpPr/>
          <p:nvPr/>
        </p:nvSpPr>
        <p:spPr>
          <a:xfrm>
            <a:off x="4035000" y="3740000"/>
            <a:ext cx="2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E4AE3"/>
                </a:solidFill>
                <a:latin typeface="Plus Jakarta Sans"/>
              </a:rPr>
              <a:t>synchronized</a:t>
            </a:r>
          </a:p>
        </p:txBody>
      </p:sp>
      <p:sp>
        <p:nvSpPr>
          <p:cNvPr id="21" name="Card cadeado"/>
          <p:cNvSpPr/>
          <p:nvPr/>
        </p:nvSpPr>
        <p:spPr>
          <a:xfrm>
            <a:off x="432000" y="4620000"/>
            <a:ext cx="5928000" cy="14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2" name="Texto cadeado"/>
          <p:cNvSpPr txBox="1"/>
          <p:nvPr/>
        </p:nvSpPr>
        <p:spPr>
          <a:xfrm>
            <a:off x="672000" y="4620000"/>
            <a:ext cx="5448000" cy="1480000"/>
          </a:xfrm>
          <a:prstGeom prst="rect">
            <a:avLst/>
          </a:prstGeom>
          <a:noFill/>
        </p:spPr>
        <p:txBody>
          <a:bodyPr wrap="square" lIns="90000" tIns="54000" rIns="90000" bIns="5400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5E4AE3"/>
                </a:solidFill>
                <a:latin typeface="Plus Jakarta Sans"/>
              </a:rPr>
              <a:t>synchronized</a:t>
            </a:r>
            <a:r>
              <a:rPr sz="1800" b="1">
                <a:solidFill>
                  <a:srgbClr val="0D0F14"/>
                </a:solidFill>
                <a:latin typeface="Plus Jakarta Sans"/>
              </a:rPr>
              <a:t> funciona como um cadeado: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apenas uma parte mexe no buffer por vez.</a:t>
            </a:r>
          </a:p>
        </p:txBody>
      </p:sp>
      <p:sp>
        <p:nvSpPr>
          <p:cNvPr id="23" name="Card aparelho"/>
          <p:cNvSpPr/>
          <p:nvPr/>
        </p:nvSpPr>
        <p:spPr>
          <a:xfrm>
            <a:off x="6660000" y="1080000"/>
            <a:ext cx="5100000" cy="19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4" name="Título aparelho"/>
          <p:cNvSpPr txBox="1"/>
          <p:nvPr/>
        </p:nvSpPr>
        <p:spPr>
          <a:xfrm>
            <a:off x="6900000" y="1260000"/>
            <a:ext cx="4620000" cy="4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Resultado no aparelho</a:t>
            </a:r>
          </a:p>
        </p:txBody>
      </p:sp>
      <p:sp>
        <p:nvSpPr>
          <p:cNvPr id="25" name="Stat tela bloqueada"/>
          <p:cNvSpPr txBox="1"/>
          <p:nvPr/>
        </p:nvSpPr>
        <p:spPr>
          <a:xfrm>
            <a:off x="6900000" y="1780000"/>
            <a:ext cx="22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2800" b="1">
                <a:solidFill>
                  <a:srgbClr val="5E4AE3"/>
                </a:solidFill>
                <a:latin typeface="Plus Jakarta Sans"/>
              </a:rPr>
              <a:t>36,3 min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D0F14"/>
                </a:solidFill>
                <a:latin typeface="Plus Jakarta Sans"/>
              </a:rPr>
              <a:t>com a tela bloqueada</a:t>
            </a:r>
          </a:p>
        </p:txBody>
      </p:sp>
      <p:sp>
        <p:nvSpPr>
          <p:cNvPr id="26" name="Stat IMU"/>
          <p:cNvSpPr txBox="1"/>
          <p:nvPr/>
        </p:nvSpPr>
        <p:spPr>
          <a:xfrm>
            <a:off x="9320000" y="1780000"/>
            <a:ext cx="22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2800" b="1">
                <a:solidFill>
                  <a:srgbClr val="5E4AE3"/>
                </a:solidFill>
                <a:latin typeface="Plus Jakarta Sans"/>
              </a:rPr>
              <a:t>50,1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D0F14"/>
                </a:solidFill>
                <a:latin typeface="Plus Jakarta Sans"/>
              </a:rPr>
              <a:t>leituras por segundo na IMU</a:t>
            </a:r>
          </a:p>
        </p:txBody>
      </p:sp>
      <p:sp>
        <p:nvSpPr>
          <p:cNvPr id="27" name="Card corrida"/>
          <p:cNvSpPr/>
          <p:nvPr/>
        </p:nvSpPr>
        <p:spPr>
          <a:xfrm>
            <a:off x="6660000" y="3260000"/>
            <a:ext cx="5100000" cy="28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/>
            <a:endParaRPr/>
          </a:p>
        </p:txBody>
      </p:sp>
      <p:sp>
        <p:nvSpPr>
          <p:cNvPr id="28" name="Título corrida"/>
          <p:cNvSpPr txBox="1"/>
          <p:nvPr/>
        </p:nvSpPr>
        <p:spPr>
          <a:xfrm>
            <a:off x="6900000" y="3440000"/>
            <a:ext cx="4620000" cy="4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Teste de corrida</a:t>
            </a:r>
          </a:p>
        </p:txBody>
      </p:sp>
      <p:sp>
        <p:nvSpPr>
          <p:cNvPr id="29" name="Stat execuções"/>
          <p:cNvSpPr txBox="1"/>
          <p:nvPr/>
        </p:nvSpPr>
        <p:spPr>
          <a:xfrm>
            <a:off x="6900000" y="3960000"/>
            <a:ext cx="22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2800" b="1">
                <a:solidFill>
                  <a:srgbClr val="5E4AE3"/>
                </a:solidFill>
                <a:latin typeface="Plus Jakarta Sans"/>
              </a:rPr>
              <a:t>10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D0F14"/>
                </a:solidFill>
                <a:latin typeface="Plus Jakarta Sans"/>
              </a:rPr>
              <a:t>execuções independentes</a:t>
            </a:r>
          </a:p>
        </p:txBody>
      </p:sp>
      <p:sp>
        <p:nvSpPr>
          <p:cNvPr id="30" name="Stat leituras"/>
          <p:cNvSpPr txBox="1"/>
          <p:nvPr/>
        </p:nvSpPr>
        <p:spPr>
          <a:xfrm>
            <a:off x="9320000" y="3960000"/>
            <a:ext cx="22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2800" b="1">
                <a:solidFill>
                  <a:srgbClr val="5E4AE3"/>
                </a:solidFill>
                <a:latin typeface="Plus Jakarta Sans"/>
              </a:rPr>
              <a:t>10 mil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D0F14"/>
                </a:solidFill>
                <a:latin typeface="Plus Jakarta Sans"/>
              </a:rPr>
              <a:t>leituras em cada uma</a:t>
            </a:r>
          </a:p>
        </p:txBody>
      </p:sp>
      <p:sp>
        <p:nvSpPr>
          <p:cNvPr id="31" name="Resultado corrida"/>
          <p:cNvSpPr/>
          <p:nvPr/>
        </p:nvSpPr>
        <p:spPr>
          <a:xfrm>
            <a:off x="6900000" y="5240000"/>
            <a:ext cx="4620000" cy="620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ctr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Nenhuma inconsistência observada.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Ensaio reprodutível e injeção de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8/11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Semente fixa 20261020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— java.util.Random tem algoritmo especificado: mesmo resultado em qualquer JVM/Android.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Um gerador por (semente, rótulo): a ordem dos ensaios não muda os números.</a:t>
            </a:r>
          </a:p>
          <a:p>
            <a:pPr algn="l">
              <a:spcAft>
                <a:spcPts val="400"/>
              </a:spcAft>
            </a:pPr>
            <a:endParaRPr sz="20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Ruído: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gaussiano extra, acurácia declarada inalterada (sensor otimista)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Perda: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fixos retirados com probabilidade p (Δt cresce)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Salto: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um fixo deslocado de J metros em direção sorteada (o erro grosseiro)</a:t>
            </a:r>
          </a:p>
          <a:p>
            <a:pPr algn="l">
              <a:spcAft>
                <a:spcPts val="400"/>
              </a:spcAft>
            </a:pPr>
            <a:endParaRPr sz="2000" b="0">
              <a:solidFill>
                <a:srgbClr val="0D0F14"/>
              </a:solidFill>
              <a:latin typeface="Plus Jakarta Sans"/>
            </a:endParaRP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Onde a detecção começa a falhar: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menor salto com ≥ 90% de detecção = 5 m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Falso alarme sem salto: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MVP ao vivo — o caminho do 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MVP ao vivo · ⟪quem apresenta⟫ · 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080000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Aparelho bloqueado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notificação na tela de bloqueio: fixos GNSS, IMU e tempo subindo (ativado 30+ min antes; "Permitir o tempo todo", economia de energia desligada)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908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908000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Ensaio AV1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toque longo no status → bloco de aquisição ao vivo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73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736000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Reprodução ×10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registro da caminhada, salto de 30 m, semente 20261020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563999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563999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Resíduo na tela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RMS antes → depois (≈ 10⁻¹⁵ m), γ contra χ²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392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392000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Erro grosseiro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"ERRO GROSSEIRO no fixo N ← o salto injetado"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522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5220000"/>
            <a:ext cx="10440000" cy="684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Falha de propósito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salto abaixo do mínimo detectável: passa sem ser detectado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Resultados com condição de medição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 ·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10/11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080000"/>
          <a:ext cx="1134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Grandeza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Condição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Valor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Testes de 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gradlew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testes_unidade.md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 de corrida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10 execuções independentes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ver corrida_10_execucoes.md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Aquisição bloqueada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maior trecho contínuo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36,3 min · IMU 50,1 Hz · 0 leituras perdidas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GPS com a tela apagada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mesmo trecho; antes da D-23 entre parênteses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87% do tempo (62%) · sem GPS, rede a cada ≤ 20 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Consumo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bateria durante o trecho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5,0 %/h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Razão de otimismo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parado; 99% dos fixos retidos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0,56 (não mede o ruído)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Resíduo 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85 janelas reais da caminhada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0,24 m → 2e-15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Salto mínimo detectável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≥ 90% de detecção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 m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1160000" cy="54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Aparelho: Samsung SM-S926B · coletas: 22/10/2026, campus da UFLA (sessão bloqueada de 21h12 fora do campus, coordenadas deslocadas) · scripts\av1_evidencias.ps1 · semente 20261020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Limitações e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11/11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580000" cy="5040000"/>
          </a:xfrm>
          <a:prstGeom prst="rect">
            <a:avLst/>
          </a:prstGeom>
          <a:noFill/>
        </p:spPr>
        <p:txBody>
          <a:bodyPr wrap="square" lIns="90000" tIns="54000" rIns="90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O que não sabemos ainda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verdade de campo: a referência é a janela limpa reconciliada.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Erro de GNSS é correlacionado no tempo: γ não é exatamente χ².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localização em segundo plano o GPS parava ~3 min após apagar a tela; com ela, 87% do tempo e uma pausa de 4,5 min sem causa conhecida.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Parado, o receptor retém a posição: o ensaio estático não mede o ruído.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Registro em claro até a cifragem da AV2.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508000" cy="5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4000" rIns="90000" bIns="54000" rtlCol="0" anchor="t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AV2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Pedir a localização em segundo plano no app; consumidor IMU com taxa fixa (D-22)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Cᵢ medido e escalonabilidade das 4 tarefas periódicas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Aprendizado online dos encontros de rede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Agente com RuleEngine e modelo removível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AES-GCM com chave no Keystore e frota com deriva de relógio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1425</Words>
  <Application>Microsoft Office PowerPoint</Application>
  <PresentationFormat>Widescreen</PresentationFormat>
  <Paragraphs>183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Plus Jakarta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Juliano Cesar</cp:lastModifiedBy>
  <cp:revision>2</cp:revision>
  <dcterms:created xsi:type="dcterms:W3CDTF">2013-01-27T09:14:16Z</dcterms:created>
  <dcterms:modified xsi:type="dcterms:W3CDTF">2026-10-24T12:18:52Z</dcterms:modified>
  <cp:category/>
</cp:coreProperties>
</file>